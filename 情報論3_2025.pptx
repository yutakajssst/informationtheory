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300" r:id="rId4"/>
    <p:sldId id="301" r:id="rId5"/>
    <p:sldId id="302" r:id="rId6"/>
    <p:sldId id="33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3" r:id="rId37"/>
    <p:sldId id="273" r:id="rId3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/>
    <p:restoredTop sz="96327"/>
  </p:normalViewPr>
  <p:slideViewPr>
    <p:cSldViewPr snapToGrid="0" snapToObjects="1">
      <p:cViewPr varScale="1">
        <p:scale>
          <a:sx n="118" d="100"/>
          <a:sy n="118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81953-FB4F-CD4F-846E-E9BB84876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3C4F5C-C917-1E4C-A66A-15ED9E39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BA0696-A198-2440-AAB6-07D3EB7E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415D60-8677-E140-A024-4DFEF224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A3548F-70D6-3A4A-8E00-795AE6AC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3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74176-1327-BD45-AF17-C84999A7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F14666-8685-7E41-8073-CD8082D0A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639C0-8EEE-EC44-A892-34F6F8515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72660E-8783-6149-B06C-9D4F69BD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AC925F-8EF6-2949-A584-425E14876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925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69DDC-95D3-FF47-91D5-2B2A8A48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464F6C-5F6B-4A4E-94CC-A4DD0E436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599145-154E-2E41-8940-076CA487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88BB7-EADB-5D4D-A808-C71E0150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7E6CA6-D9D5-DD48-A17D-F7DB019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75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C9324-FA5D-1E4D-B0A9-98DA800F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D812CA-FDF0-2348-96EF-717853E8C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3A4D42-044E-0D44-99E3-4BF618D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94CDEC-0A74-754F-9DBA-8D3EFFB7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A115FA-D86A-F14B-BAF3-0FC814AA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C09D8C-C831-2140-AE26-FE474A55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62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14F03-3A61-2A4E-A0B1-6B6DFA8E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1EFDE3-B0C6-E04E-A4C3-5680E679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8ECDB8-B9D9-DD4F-B9EE-9F508CC5F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E20BD7-55BC-E443-A7E8-C975BE515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F698DF-F84E-2F4A-A9D9-0B712B506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21C911-7864-B645-97C2-4F1BBE8F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DA7EF2-22B4-1C4D-B088-8DE68A82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91A03A-7024-CB4B-80D1-66A9C3B7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32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2252B-2E5E-174B-8C2D-0F57B4C5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170A83-5CFD-1146-8B45-06A39BF7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7F3983-E737-8C40-9038-D40105CC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710954-3E3A-9047-BF70-A3A6C26E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8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8B3A85-BA65-1749-BD33-1F54ABE1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BD3669-A7F0-FB42-8461-C5B85BDD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3AB5B4-5F5C-4B4E-8BB1-EAE34F5C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11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100A7-EF59-6448-958E-D51212C8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9F755C-EF21-B04C-A1A8-2B9F5790D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815294-0503-7E4E-808F-E0979EB7E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023B99-7584-804E-8D35-4E64F9F1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463488-2CD2-C449-A477-2F90C53F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526074-E9AD-A642-91B2-7502265F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9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AD13B-B4E9-2541-A5E2-82FDBCA6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60B1B5-B122-D446-AF28-B6967966D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BFC4C8-C521-4348-B702-1C0970DCB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2F803-97FE-5C49-AB13-1D10C7E6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594BA6-D603-9243-846C-6C3020EA7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31EE6B-A160-C844-AC15-CA8E5E15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66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5F966-3899-7346-881C-5629611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8E9B8F-2A3E-4340-AF26-5F630E7E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D383F-FC9C-6A40-8938-45B44E1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ECEDAA-89B5-A44D-A0DE-6F053275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39C43-74D6-CA45-8817-91D67177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75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F537C3-D360-1446-9EB3-17526F853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B7D822-5108-EE4A-BAFE-6B419E07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AC4C77-648F-2B4B-9270-25FC06A7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28DEB-538A-8746-B6D5-30BE4FC7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171257-A18D-0B4A-B696-E357F2C3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34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0FAF1B-A2D2-8E4C-A430-F2DC9A47F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E607B9-D6D0-EE4F-9ED6-B3E7257BC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62EA4F-BFE1-0146-A159-104E7B026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4E857-21D8-D348-91A9-994C9AAD514D}" type="datetimeFigureOut">
              <a:rPr kumimoji="1" lang="ja-JP" altLang="en-US" smtClean="0"/>
              <a:t>2024/4/20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187D28-49FA-A746-8022-B7C9B8285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D4DFE2-576A-3343-8818-B08369087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A5546-671E-2840-8D96-2E52B985F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85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tsuno.yutaka@nihon-u.ac.j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CB7DD-5471-3F4E-9906-614C4E17D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/>
              <a:t>情報論</a:t>
            </a:r>
            <a:r>
              <a:rPr kumimoji="1" lang="en-US" altLang="ja-JP" dirty="0"/>
              <a:t>3</a:t>
            </a:r>
            <a:br>
              <a:rPr kumimoji="1" lang="en-US" altLang="ja-JP"/>
            </a:br>
            <a:r>
              <a:rPr kumimoji="1" lang="en-US" altLang="ja-JP"/>
              <a:t>2024/4/24</a:t>
            </a:r>
            <a:br>
              <a:rPr kumimoji="1" lang="en-US" altLang="ja-JP" dirty="0"/>
            </a:br>
            <a:r>
              <a:rPr kumimoji="1" lang="en-US" altLang="ja-JP" dirty="0"/>
              <a:t>2</a:t>
            </a:r>
            <a:r>
              <a:rPr kumimoji="1" lang="ja-JP" altLang="en-US"/>
              <a:t>限</a:t>
            </a:r>
            <a:r>
              <a:rPr kumimoji="1" lang="en-US" altLang="ja-JP" dirty="0"/>
              <a:t>(10:40)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EAE8F18-4B41-C948-9B52-95796EA00F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情報科学専攻</a:t>
            </a:r>
            <a:endParaRPr kumimoji="1" lang="en-US" altLang="ja-JP" dirty="0"/>
          </a:p>
          <a:p>
            <a:r>
              <a:rPr lang="ja-JP" altLang="en-US"/>
              <a:t>松野裕</a:t>
            </a:r>
            <a:endParaRPr lang="en-US" altLang="ja-JP" dirty="0"/>
          </a:p>
          <a:p>
            <a:r>
              <a:rPr kumimoji="1" lang="en-US" altLang="ja-JP" dirty="0">
                <a:hlinkClick r:id="rId2"/>
              </a:rPr>
              <a:t>matsuno.yutaka@nihon-u.ac.jp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FA274D-C7FF-0D49-8023-906340A4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技術英語ライティングの基本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AE2638-60D5-BD45-8FFE-B43770B9D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/>
              <a:t>第</a:t>
            </a:r>
            <a:r>
              <a:rPr lang="en-US" altLang="ja-JP" dirty="0"/>
              <a:t>1</a:t>
            </a:r>
            <a:r>
              <a:rPr lang="ja-JP" altLang="en-US"/>
              <a:t>部</a:t>
            </a:r>
            <a:endParaRPr lang="en-US" altLang="ja-JP" dirty="0"/>
          </a:p>
          <a:p>
            <a:pPr lvl="1"/>
            <a:r>
              <a:rPr lang="ja-JP" altLang="en-US"/>
              <a:t>すっきり最小主義</a:t>
            </a:r>
            <a:endParaRPr lang="en-US" altLang="ja-JP" dirty="0"/>
          </a:p>
          <a:p>
            <a:pPr lvl="1"/>
            <a:r>
              <a:rPr lang="ja-JP" altLang="en-US"/>
              <a:t>まずは具体化主義</a:t>
            </a:r>
            <a:endParaRPr lang="en-US" altLang="ja-JP" dirty="0"/>
          </a:p>
          <a:p>
            <a:pPr lvl="1"/>
            <a:r>
              <a:rPr lang="ja-JP" altLang="en-US"/>
              <a:t>とことん動詞主義</a:t>
            </a:r>
            <a:endParaRPr lang="en-US" altLang="ja-JP" dirty="0"/>
          </a:p>
          <a:p>
            <a:pPr lvl="1"/>
            <a:r>
              <a:rPr lang="ja-JP" altLang="en-US">
                <a:solidFill>
                  <a:srgbClr val="FF0000"/>
                </a:solidFill>
              </a:rPr>
              <a:t>まっすぐ能動態主義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51C3873-55E2-3340-B0E7-0400BF667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/>
              <a:t>第２部</a:t>
            </a:r>
            <a:br>
              <a:rPr lang="en-US" altLang="ja-JP" dirty="0"/>
            </a:br>
            <a:r>
              <a:rPr lang="ja-JP" altLang="en-US"/>
              <a:t>これならわかる英文法</a:t>
            </a:r>
            <a:endParaRPr lang="en-US" altLang="ja-JP" dirty="0"/>
          </a:p>
          <a:p>
            <a:r>
              <a:rPr lang="ja-JP" altLang="en-US"/>
              <a:t>第３部</a:t>
            </a:r>
            <a:br>
              <a:rPr lang="en-US" altLang="ja-JP" dirty="0"/>
            </a:br>
            <a:r>
              <a:rPr lang="ja-JP" altLang="en-US"/>
              <a:t>これですっきり数字と記号</a:t>
            </a:r>
          </a:p>
        </p:txBody>
      </p:sp>
    </p:spTree>
    <p:extLst>
      <p:ext uri="{BB962C8B-B14F-4D97-AF65-F5344CB8AC3E}">
        <p14:creationId xmlns:p14="http://schemas.microsoft.com/office/powerpoint/2010/main" val="370436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FE7034-0DCB-804E-980B-42CEB635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まっすぐ能動態主義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DE7246B-0822-AD49-BA65-77B3ACBA9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どれが適切でしょう</a:t>
            </a:r>
            <a:r>
              <a:rPr lang="en-US" altLang="ja-JP" dirty="0"/>
              <a:t>?</a:t>
            </a:r>
          </a:p>
          <a:p>
            <a:pPr lvl="1"/>
            <a:r>
              <a:rPr lang="en-US" altLang="ja-JP" dirty="0"/>
              <a:t>A. </a:t>
            </a:r>
            <a:r>
              <a:rPr lang="ja-JP" altLang="en-US"/>
              <a:t>当社のウエブサービスは</a:t>
            </a:r>
            <a:r>
              <a:rPr lang="en-US" altLang="ja-JP" dirty="0"/>
              <a:t>300</a:t>
            </a:r>
            <a:r>
              <a:rPr lang="ja-JP" altLang="en-US"/>
              <a:t>万人の皆様にご利用いただいています</a:t>
            </a:r>
            <a:endParaRPr lang="en-US" altLang="ja-JP" dirty="0"/>
          </a:p>
          <a:p>
            <a:pPr lvl="1"/>
            <a:r>
              <a:rPr lang="en-US" altLang="ja-JP" dirty="0"/>
              <a:t>B. </a:t>
            </a:r>
            <a:r>
              <a:rPr lang="ja-JP" altLang="en-US"/>
              <a:t>当社のウエブサービスは</a:t>
            </a:r>
            <a:r>
              <a:rPr lang="en-US" altLang="ja-JP" dirty="0"/>
              <a:t>300</a:t>
            </a:r>
            <a:r>
              <a:rPr lang="ja-JP" altLang="en-US"/>
              <a:t>万人の皆様に利用されています</a:t>
            </a:r>
            <a:endParaRPr lang="en-US" altLang="ja-JP" dirty="0"/>
          </a:p>
          <a:p>
            <a:pPr lvl="1"/>
            <a:r>
              <a:rPr lang="en-US" altLang="ja-JP" dirty="0"/>
              <a:t>C. </a:t>
            </a:r>
            <a:r>
              <a:rPr lang="ja-JP" altLang="en-US"/>
              <a:t>当社のウエブサービスは</a:t>
            </a:r>
            <a:r>
              <a:rPr lang="en-US" altLang="ja-JP" dirty="0"/>
              <a:t>300</a:t>
            </a:r>
            <a:r>
              <a:rPr lang="ja-JP" altLang="en-US"/>
              <a:t>万人の皆様が利用しています</a:t>
            </a:r>
          </a:p>
        </p:txBody>
      </p:sp>
    </p:spTree>
    <p:extLst>
      <p:ext uri="{BB962C8B-B14F-4D97-AF65-F5344CB8AC3E}">
        <p14:creationId xmlns:p14="http://schemas.microsoft.com/office/powerpoint/2010/main" val="140708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7B587-D60C-2B44-8402-F41D7037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</a:t>
            </a:r>
            <a:r>
              <a:rPr lang="ja-JP" altLang="en-US"/>
              <a:t>か</a:t>
            </a:r>
            <a:r>
              <a:rPr lang="en-US" altLang="ja-JP" dirty="0"/>
              <a:t>C</a:t>
            </a:r>
            <a:r>
              <a:rPr lang="ja-JP" altLang="en-US"/>
              <a:t>ですね</a:t>
            </a:r>
            <a:r>
              <a:rPr lang="en-US" altLang="ja-JP" dirty="0"/>
              <a:t>(</a:t>
            </a:r>
            <a:r>
              <a:rPr lang="ja-JP" altLang="en-US"/>
              <a:t>敬語の英訳は難しい</a:t>
            </a:r>
            <a:r>
              <a:rPr lang="en-US" altLang="ja-JP" dirty="0"/>
              <a:t>)</a:t>
            </a:r>
            <a:br>
              <a:rPr lang="en-US" altLang="ja-JP" dirty="0"/>
            </a:br>
            <a:r>
              <a:rPr lang="ja-JP" altLang="en-US"/>
              <a:t>どっちがいいでしょうか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027F4D-AC9F-2A40-A72C-1840E3A0E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 Our web services are used by three million people.</a:t>
            </a:r>
            <a:endParaRPr kumimoji="1" lang="en-US" altLang="ja-JP" dirty="0"/>
          </a:p>
          <a:p>
            <a:r>
              <a:rPr lang="en-US" altLang="ja-JP" dirty="0"/>
              <a:t>C Three million people use our web services.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59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5DA05-3840-F04F-B947-D105966A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差の出ない日本語、出る英語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1300E2-6A7A-8242-B17B-1614EA8F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( )</a:t>
            </a:r>
            <a:r>
              <a:rPr kumimoji="1" lang="ja-JP" altLang="en-US"/>
              <a:t>をひらがなで埋めて、英語と同じ意味にしよう</a:t>
            </a:r>
            <a:r>
              <a:rPr kumimoji="1" lang="en-US" altLang="ja-JP" dirty="0"/>
              <a:t>(</a:t>
            </a:r>
            <a:r>
              <a:rPr kumimoji="1" lang="ja-JP" altLang="en-US"/>
              <a:t>能動態、受動態で</a:t>
            </a:r>
            <a:r>
              <a:rPr kumimoji="1" lang="en-US" altLang="ja-JP" dirty="0"/>
              <a:t>2</a:t>
            </a:r>
            <a:r>
              <a:rPr kumimoji="1" lang="ja-JP" altLang="en-US"/>
              <a:t>通り考えてみよう</a:t>
            </a:r>
            <a:r>
              <a:rPr kumimoji="1" lang="en-US" altLang="ja-JP" dirty="0"/>
              <a:t>)</a:t>
            </a:r>
          </a:p>
          <a:p>
            <a:pPr lvl="1"/>
            <a:r>
              <a:rPr lang="en-US" altLang="ja-JP" dirty="0"/>
              <a:t>Five motors drive the paper transport unit.</a:t>
            </a:r>
          </a:p>
          <a:p>
            <a:pPr lvl="1"/>
            <a:r>
              <a:rPr kumimoji="1" lang="en-US" altLang="ja-JP" dirty="0"/>
              <a:t>5</a:t>
            </a:r>
            <a:r>
              <a:rPr kumimoji="1" lang="ja-JP" altLang="en-US"/>
              <a:t>つのモータ</a:t>
            </a:r>
            <a:r>
              <a:rPr kumimoji="1" lang="en-US" altLang="ja-JP" dirty="0"/>
              <a:t>( )</a:t>
            </a:r>
            <a:r>
              <a:rPr lang="ja-JP" altLang="en-US"/>
              <a:t>用紙搬送ユニット</a:t>
            </a:r>
            <a:r>
              <a:rPr lang="en-US" altLang="ja-JP" dirty="0"/>
              <a:t>( )</a:t>
            </a:r>
            <a:r>
              <a:rPr lang="ja-JP" altLang="en-US"/>
              <a:t>駆動</a:t>
            </a:r>
            <a:r>
              <a:rPr lang="en-US" altLang="ja-JP" dirty="0"/>
              <a:t>( )</a:t>
            </a:r>
            <a:r>
              <a:rPr lang="ja-JP" altLang="en-US"/>
              <a:t>ています</a:t>
            </a:r>
            <a:endParaRPr lang="en-US" altLang="ja-JP" dirty="0"/>
          </a:p>
          <a:p>
            <a:pPr lvl="1"/>
            <a:r>
              <a:rPr lang="en-US" altLang="ja-JP" dirty="0"/>
              <a:t>5</a:t>
            </a:r>
            <a:r>
              <a:rPr lang="ja-JP" altLang="en-US"/>
              <a:t>つのモータ</a:t>
            </a:r>
            <a:r>
              <a:rPr lang="en-US" altLang="ja-JP" dirty="0"/>
              <a:t>( )</a:t>
            </a:r>
            <a:r>
              <a:rPr lang="ja-JP" altLang="en-US"/>
              <a:t>用紙搬送ユニット</a:t>
            </a:r>
            <a:r>
              <a:rPr lang="en-US" altLang="ja-JP" dirty="0"/>
              <a:t>( )</a:t>
            </a:r>
            <a:r>
              <a:rPr lang="ja-JP" altLang="en-US"/>
              <a:t>駆動</a:t>
            </a:r>
            <a:r>
              <a:rPr lang="en-US" altLang="ja-JP" dirty="0"/>
              <a:t>( )</a:t>
            </a:r>
            <a:r>
              <a:rPr lang="ja-JP" altLang="en-US"/>
              <a:t>ています</a:t>
            </a:r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5576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708DD3-1083-3941-A5C9-A76AAE1F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ちょっと変えれば能動態にも</a:t>
            </a:r>
            <a:br>
              <a:rPr kumimoji="1" lang="en-US" altLang="ja-JP" dirty="0"/>
            </a:br>
            <a:r>
              <a:rPr kumimoji="1" lang="ja-JP" altLang="en-US"/>
              <a:t>受動態にもなる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841F8D-01D8-C34A-A318-416A246AB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lang="ja-JP" altLang="en-US"/>
              <a:t>つのモータ</a:t>
            </a:r>
            <a:r>
              <a:rPr lang="en-US" altLang="ja-JP" dirty="0"/>
              <a:t>(</a:t>
            </a:r>
            <a:r>
              <a:rPr lang="ja-JP" altLang="en-US"/>
              <a:t>が</a:t>
            </a:r>
            <a:r>
              <a:rPr lang="en-US" altLang="ja-JP" dirty="0"/>
              <a:t>)</a:t>
            </a:r>
            <a:r>
              <a:rPr lang="ja-JP" altLang="en-US"/>
              <a:t>用紙搬送ユニット</a:t>
            </a:r>
            <a:r>
              <a:rPr lang="en-US" altLang="ja-JP" dirty="0"/>
              <a:t>(</a:t>
            </a:r>
            <a:r>
              <a:rPr lang="ja-JP" altLang="en-US"/>
              <a:t>を</a:t>
            </a:r>
            <a:r>
              <a:rPr lang="en-US" altLang="ja-JP" dirty="0"/>
              <a:t>)</a:t>
            </a:r>
            <a:r>
              <a:rPr lang="ja-JP" altLang="en-US"/>
              <a:t>駆動</a:t>
            </a:r>
            <a:r>
              <a:rPr lang="en-US" altLang="ja-JP" dirty="0"/>
              <a:t>(</a:t>
            </a:r>
            <a:r>
              <a:rPr lang="ja-JP" altLang="en-US"/>
              <a:t>し</a:t>
            </a:r>
            <a:r>
              <a:rPr lang="en-US" altLang="ja-JP" dirty="0"/>
              <a:t>)</a:t>
            </a:r>
            <a:r>
              <a:rPr lang="ja-JP" altLang="en-US"/>
              <a:t>ています</a:t>
            </a:r>
            <a:endParaRPr lang="en-US" altLang="ja-JP" dirty="0"/>
          </a:p>
          <a:p>
            <a:pPr lvl="1"/>
            <a:r>
              <a:rPr lang="ja-JP" altLang="en-US"/>
              <a:t>能動態</a:t>
            </a:r>
          </a:p>
          <a:p>
            <a:r>
              <a:rPr lang="en-US" altLang="ja-JP" dirty="0"/>
              <a:t>5</a:t>
            </a:r>
            <a:r>
              <a:rPr lang="ja-JP" altLang="en-US"/>
              <a:t>つのモータ</a:t>
            </a:r>
            <a:r>
              <a:rPr lang="en-US" altLang="ja-JP" dirty="0"/>
              <a:t>(</a:t>
            </a:r>
            <a:r>
              <a:rPr lang="ja-JP" altLang="en-US"/>
              <a:t>で</a:t>
            </a:r>
            <a:r>
              <a:rPr lang="en-US" altLang="ja-JP" dirty="0"/>
              <a:t>)</a:t>
            </a:r>
            <a:r>
              <a:rPr lang="ja-JP" altLang="en-US"/>
              <a:t>用紙搬送ユニット</a:t>
            </a:r>
            <a:r>
              <a:rPr lang="en-US" altLang="ja-JP" dirty="0"/>
              <a:t>(</a:t>
            </a:r>
            <a:r>
              <a:rPr lang="ja-JP" altLang="en-US"/>
              <a:t>は</a:t>
            </a:r>
            <a:r>
              <a:rPr lang="en-US" altLang="ja-JP" dirty="0"/>
              <a:t>)</a:t>
            </a:r>
            <a:r>
              <a:rPr lang="ja-JP" altLang="en-US"/>
              <a:t>駆動</a:t>
            </a:r>
            <a:r>
              <a:rPr lang="en-US" altLang="ja-JP" dirty="0"/>
              <a:t>(</a:t>
            </a:r>
            <a:r>
              <a:rPr lang="ja-JP" altLang="en-US"/>
              <a:t>され</a:t>
            </a:r>
            <a:r>
              <a:rPr lang="en-US" altLang="ja-JP" dirty="0"/>
              <a:t>)</a:t>
            </a:r>
            <a:r>
              <a:rPr lang="ja-JP" altLang="en-US"/>
              <a:t>ています</a:t>
            </a:r>
            <a:endParaRPr lang="en-US" altLang="ja-JP" dirty="0"/>
          </a:p>
          <a:p>
            <a:pPr lvl="1"/>
            <a:r>
              <a:rPr lang="ja-JP" altLang="en-US"/>
              <a:t>受動態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00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49722-C030-FE4B-A60D-E423CD38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英語だと能動態と受動態で全く違う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3F2299-193C-9C4B-9599-C4505D07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能動態　</a:t>
            </a:r>
            <a:r>
              <a:rPr lang="en-US" altLang="ja-JP" dirty="0"/>
              <a:t>Five motors drive the paper transport unit. </a:t>
            </a:r>
          </a:p>
          <a:p>
            <a:r>
              <a:rPr kumimoji="1" lang="ja-JP" altLang="en-US"/>
              <a:t>受動態</a:t>
            </a:r>
            <a:r>
              <a:rPr kumimoji="1" lang="en-US" altLang="ja-JP" dirty="0"/>
              <a:t>   The paper transport unit is driven by five motors.</a:t>
            </a:r>
          </a:p>
          <a:p>
            <a:endParaRPr lang="en-US" altLang="ja-JP" dirty="0"/>
          </a:p>
          <a:p>
            <a:r>
              <a:rPr kumimoji="1" lang="ja-JP" altLang="en-US"/>
              <a:t>英語は左から右に読んでいくのが自然</a:t>
            </a:r>
            <a:endParaRPr kumimoji="1" lang="en-US" altLang="ja-JP" dirty="0"/>
          </a:p>
          <a:p>
            <a:r>
              <a:rPr kumimoji="1" lang="ja-JP" altLang="en-US"/>
              <a:t>能動態だと、</a:t>
            </a:r>
            <a:r>
              <a:rPr kumimoji="1" lang="en-US" altLang="ja-JP" dirty="0"/>
              <a:t>drive</a:t>
            </a:r>
            <a:r>
              <a:rPr kumimoji="1" lang="ja-JP" altLang="en-US"/>
              <a:t>、受動態だと</a:t>
            </a:r>
            <a:r>
              <a:rPr kumimoji="1" lang="en-US" altLang="ja-JP" dirty="0"/>
              <a:t> is driven by</a:t>
            </a:r>
          </a:p>
          <a:p>
            <a:r>
              <a:rPr lang="ja-JP" altLang="en-US"/>
              <a:t>そもそも</a:t>
            </a:r>
            <a:r>
              <a:rPr lang="en-US" altLang="ja-JP" dirty="0"/>
              <a:t> by ~ </a:t>
            </a:r>
            <a:r>
              <a:rPr lang="ja-JP" altLang="en-US"/>
              <a:t>という表現はまわりくどい</a:t>
            </a:r>
            <a:endParaRPr lang="en-US" altLang="ja-JP" dirty="0"/>
          </a:p>
          <a:p>
            <a:pPr lvl="1"/>
            <a:r>
              <a:rPr lang="en-US" altLang="ja-JP" dirty="0"/>
              <a:t>by ~ </a:t>
            </a:r>
            <a:r>
              <a:rPr lang="ja-JP" altLang="en-US"/>
              <a:t>という表現は</a:t>
            </a:r>
            <a:r>
              <a:rPr lang="en-US" altLang="ja-JP" dirty="0"/>
              <a:t>~</a:t>
            </a:r>
            <a:r>
              <a:rPr lang="ja-JP" altLang="en-US"/>
              <a:t>を隠したいときに使う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2376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72C61-9DFB-1B49-B1AF-33F52FC4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受動態は文法ミスに気づきにくい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AE8155-FC23-BC45-8E8F-00DAC4233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下記の英訳の間違い</a:t>
            </a:r>
            <a:r>
              <a:rPr lang="ja-JP" altLang="en-US"/>
              <a:t>は？</a:t>
            </a:r>
            <a:endParaRPr kumimoji="1" lang="en-US" altLang="ja-JP" dirty="0"/>
          </a:p>
          <a:p>
            <a:pPr lvl="1"/>
            <a:r>
              <a:rPr lang="ja-JP" altLang="en-US"/>
              <a:t>この製品には最新の環境基準が適用されています</a:t>
            </a:r>
            <a:endParaRPr lang="en-US" altLang="ja-JP" dirty="0"/>
          </a:p>
          <a:p>
            <a:pPr lvl="1"/>
            <a:r>
              <a:rPr kumimoji="1" lang="en-US" altLang="ja-JP" dirty="0"/>
              <a:t>This product is applied the latest environmental standards</a:t>
            </a:r>
          </a:p>
          <a:p>
            <a:pPr lvl="1"/>
            <a:r>
              <a:rPr lang="ja-JP" altLang="en-US"/>
              <a:t>この製品は</a:t>
            </a:r>
            <a:r>
              <a:rPr lang="en-US" altLang="ja-JP" dirty="0"/>
              <a:t>(</a:t>
            </a:r>
            <a:r>
              <a:rPr lang="ja-JP" altLang="en-US"/>
              <a:t>なにかに</a:t>
            </a:r>
            <a:r>
              <a:rPr lang="en-US" altLang="ja-JP" dirty="0"/>
              <a:t>)</a:t>
            </a:r>
            <a:r>
              <a:rPr lang="ja-JP" altLang="en-US"/>
              <a:t>適用されます最新の環境基準</a:t>
            </a:r>
            <a:endParaRPr lang="en-US" altLang="ja-JP" dirty="0"/>
          </a:p>
          <a:p>
            <a:r>
              <a:rPr kumimoji="1" lang="ja-JP" altLang="en-US"/>
              <a:t>別の例</a:t>
            </a:r>
            <a:endParaRPr kumimoji="1" lang="en-US" altLang="ja-JP" dirty="0"/>
          </a:p>
          <a:p>
            <a:pPr lvl="1"/>
            <a:r>
              <a:rPr lang="ja-JP" altLang="en-US"/>
              <a:t>この製品には</a:t>
            </a:r>
            <a:r>
              <a:rPr lang="en-US" altLang="ja-JP" dirty="0"/>
              <a:t>5</a:t>
            </a:r>
            <a:r>
              <a:rPr lang="ja-JP" altLang="en-US"/>
              <a:t>つの星の評価が与えられています</a:t>
            </a:r>
            <a:endParaRPr lang="en-US" altLang="ja-JP" dirty="0"/>
          </a:p>
          <a:p>
            <a:pPr lvl="1"/>
            <a:r>
              <a:rPr lang="en-US" altLang="ja-JP" dirty="0"/>
              <a:t>This product is given a five-star rating</a:t>
            </a:r>
          </a:p>
        </p:txBody>
      </p:sp>
    </p:spTree>
    <p:extLst>
      <p:ext uri="{BB962C8B-B14F-4D97-AF65-F5344CB8AC3E}">
        <p14:creationId xmlns:p14="http://schemas.microsoft.com/office/powerpoint/2010/main" val="50567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8E35F-4EC4-E744-80ED-6B4FCFA7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Give</a:t>
            </a:r>
            <a:r>
              <a:rPr kumimoji="1" lang="ja-JP" altLang="en-US"/>
              <a:t>と</a:t>
            </a:r>
            <a:r>
              <a:rPr kumimoji="1" lang="en-US" altLang="ja-JP" dirty="0"/>
              <a:t>Apply</a:t>
            </a:r>
            <a:r>
              <a:rPr kumimoji="1" lang="ja-JP" altLang="en-US"/>
              <a:t>の性質の違い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C7A28A-20E4-7A46-84C7-2F7566194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Give</a:t>
            </a:r>
            <a:r>
              <a:rPr kumimoji="1" lang="ja-JP" altLang="en-US"/>
              <a:t>は目的語が</a:t>
            </a:r>
            <a:r>
              <a:rPr kumimoji="1" lang="en-US" altLang="ja-JP" dirty="0"/>
              <a:t>2</a:t>
            </a:r>
            <a:r>
              <a:rPr kumimoji="1" lang="ja-JP" altLang="en-US"/>
              <a:t>つ、</a:t>
            </a:r>
            <a:r>
              <a:rPr kumimoji="1" lang="en-US" altLang="ja-JP" dirty="0"/>
              <a:t>Apply</a:t>
            </a:r>
            <a:r>
              <a:rPr kumimoji="1" lang="ja-JP" altLang="en-US"/>
              <a:t>は目的語が</a:t>
            </a:r>
            <a:r>
              <a:rPr lang="en-US" altLang="ja-JP" dirty="0"/>
              <a:t>1</a:t>
            </a:r>
            <a:r>
              <a:rPr lang="ja-JP" altLang="en-US"/>
              <a:t>つ</a:t>
            </a:r>
            <a:endParaRPr lang="en-US" altLang="ja-JP" dirty="0"/>
          </a:p>
          <a:p>
            <a:r>
              <a:rPr kumimoji="1" lang="ja-JP" altLang="en-US"/>
              <a:t>〇〇には△△が□□されているという文は、</a:t>
            </a:r>
            <a:r>
              <a:rPr kumimoji="1" lang="en-US" altLang="ja-JP" dirty="0"/>
              <a:t>give</a:t>
            </a:r>
            <a:r>
              <a:rPr kumimoji="1" lang="ja-JP" altLang="en-US"/>
              <a:t>のように目的語を２つとれるような動詞でなければならない</a:t>
            </a:r>
            <a:endParaRPr kumimoji="1" lang="en-US" altLang="ja-JP" dirty="0"/>
          </a:p>
          <a:p>
            <a:pPr lvl="1"/>
            <a:r>
              <a:rPr lang="en-US" altLang="ja-JP" dirty="0"/>
              <a:t>They give </a:t>
            </a:r>
            <a:r>
              <a:rPr lang="en-US" altLang="ja-JP" u="sng" dirty="0"/>
              <a:t>this product</a:t>
            </a:r>
            <a:r>
              <a:rPr lang="en-US" altLang="ja-JP" dirty="0"/>
              <a:t> </a:t>
            </a:r>
            <a:r>
              <a:rPr lang="en-US" altLang="ja-JP" u="sng" dirty="0"/>
              <a:t>a five-star rating</a:t>
            </a:r>
            <a:r>
              <a:rPr lang="en-US" altLang="ja-JP" dirty="0"/>
              <a:t>.</a:t>
            </a:r>
          </a:p>
          <a:p>
            <a:pPr lvl="1"/>
            <a:r>
              <a:rPr kumimoji="1" lang="en-US" altLang="ja-JP" u="sng" dirty="0"/>
              <a:t>This product </a:t>
            </a:r>
            <a:r>
              <a:rPr kumimoji="1" lang="en-US" altLang="ja-JP" dirty="0"/>
              <a:t>is given </a:t>
            </a:r>
            <a:r>
              <a:rPr kumimoji="1" lang="en-US" altLang="ja-JP" u="sng" dirty="0"/>
              <a:t>a five-star rating.</a:t>
            </a:r>
          </a:p>
          <a:p>
            <a:pPr lvl="1"/>
            <a:endParaRPr lang="en-US" altLang="ja-JP" u="sng" dirty="0"/>
          </a:p>
          <a:p>
            <a:r>
              <a:rPr kumimoji="1" lang="ja-JP" altLang="en-US"/>
              <a:t>文法的に高度。能動態を使おう</a:t>
            </a:r>
          </a:p>
        </p:txBody>
      </p:sp>
    </p:spTree>
    <p:extLst>
      <p:ext uri="{BB962C8B-B14F-4D97-AF65-F5344CB8AC3E}">
        <p14:creationId xmlns:p14="http://schemas.microsoft.com/office/powerpoint/2010/main" val="300157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76843-1766-7448-BFAB-64DD023C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能動態で英訳しよう</a:t>
            </a:r>
            <a:r>
              <a:rPr kumimoji="1" lang="en-US" altLang="ja-JP" dirty="0"/>
              <a:t>(</a:t>
            </a:r>
            <a:r>
              <a:rPr kumimoji="1" lang="ja-JP" altLang="en-US"/>
              <a:t>受動態のほうがわかりやすければ受動態でもいいです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368808-35A0-9D4B-AECC-3817DAB9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この製品には最新の環境基準が適用されています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0127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547082-3987-7246-9EA3-1A6B6357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58F992-57A9-524B-8714-C9551E15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Somebody has applied the latest environment standards to this product.</a:t>
            </a:r>
          </a:p>
          <a:p>
            <a:r>
              <a:rPr lang="en-US" altLang="ja-JP" dirty="0"/>
              <a:t>Somebody</a:t>
            </a:r>
            <a:r>
              <a:rPr lang="ja-JP" altLang="en-US"/>
              <a:t>が誰かわからないので受動態にする</a:t>
            </a:r>
            <a:endParaRPr lang="en-US" altLang="ja-JP" dirty="0"/>
          </a:p>
          <a:p>
            <a:pPr lvl="1"/>
            <a:r>
              <a:rPr kumimoji="1" lang="en-US" altLang="ja-JP" dirty="0"/>
              <a:t>The latest standards have been applied to this product</a:t>
            </a:r>
          </a:p>
          <a:p>
            <a:r>
              <a:rPr lang="ja-JP" altLang="en-US"/>
              <a:t>そもそも</a:t>
            </a:r>
            <a:r>
              <a:rPr lang="en-US" altLang="ja-JP" dirty="0"/>
              <a:t>apply</a:t>
            </a:r>
            <a:r>
              <a:rPr lang="ja-JP" altLang="en-US"/>
              <a:t>が難しい。</a:t>
            </a:r>
            <a:r>
              <a:rPr lang="en-US" altLang="ja-JP" dirty="0"/>
              <a:t>Apply</a:t>
            </a:r>
            <a:r>
              <a:rPr lang="ja-JP" altLang="en-US"/>
              <a:t>を使わないようにしよう</a:t>
            </a:r>
            <a:endParaRPr lang="en-US" altLang="ja-JP" dirty="0"/>
          </a:p>
          <a:p>
            <a:pPr lvl="1"/>
            <a:r>
              <a:rPr lang="en-US" altLang="ja-JP" dirty="0"/>
              <a:t>The product satisfies the latest environment standards.</a:t>
            </a:r>
          </a:p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966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9E13B-6FD1-894C-987A-53BA0E65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もう一例、英訳の気になる点は？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9C04EB-9FE5-4A4E-90D8-068D2751A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特別チームを編成し、新製品に対するお客様の反応の調査が行われています</a:t>
            </a:r>
            <a:endParaRPr lang="en-US" altLang="ja-JP" dirty="0"/>
          </a:p>
          <a:p>
            <a:r>
              <a:rPr kumimoji="1" lang="en-US" altLang="ja-JP" dirty="0"/>
              <a:t>A special team is organized and customer response to the new product is surveyed.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90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7A1CB-A772-1C4D-ACCE-2C8D192C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時制に気をつけないといけない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F23E7D-363F-0641-90A2-9A72334E3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このチームはいまもあるから、現在完了形</a:t>
            </a:r>
            <a:endParaRPr kumimoji="1" lang="en-US" altLang="ja-JP" dirty="0"/>
          </a:p>
          <a:p>
            <a:r>
              <a:rPr lang="ja-JP" altLang="en-US"/>
              <a:t>受け身の現在進行形は、</a:t>
            </a:r>
            <a:r>
              <a:rPr lang="en-US" altLang="ja-JP" dirty="0"/>
              <a:t>is being …</a:t>
            </a:r>
          </a:p>
          <a:p>
            <a:endParaRPr kumimoji="1" lang="en-US" altLang="ja-JP" dirty="0"/>
          </a:p>
          <a:p>
            <a:r>
              <a:rPr lang="ja-JP" altLang="en-US"/>
              <a:t>なので</a:t>
            </a:r>
            <a:endParaRPr lang="en-US" altLang="ja-JP" dirty="0"/>
          </a:p>
          <a:p>
            <a:r>
              <a:rPr kumimoji="1" lang="en-US" altLang="ja-JP" dirty="0"/>
              <a:t>A special team has b</a:t>
            </a:r>
            <a:r>
              <a:rPr lang="en-US" altLang="ja-JP" dirty="0"/>
              <a:t>een organized and customer response to the new project is being surveyed.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34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7540F-1A75-664A-AE89-4FF85607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能動態にしよう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866B54-A66D-3B4C-8F44-2A41F9C9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特別チームを編成し、新製品に対するお客様の反応の調査が行われています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70083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E0DEB-51E4-0D49-8BAF-3105C84C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88660F-A595-E24D-8002-D8CE8EEF9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 special team is surveying customer response to the new product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2606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6FC49-FB9A-4E4C-AF44-EF9BAC53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情報が集まれば能動態が</a:t>
            </a:r>
            <a:r>
              <a:rPr lang="ja-JP" altLang="en-US"/>
              <a:t>書ける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46025-7D55-9D44-A328-9C7D52863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ja-JP" altLang="en-US"/>
              <a:t>ある男が殺された</a:t>
            </a:r>
            <a:endParaRPr kumimoji="1" lang="en-US" altLang="ja-JP" dirty="0"/>
          </a:p>
          <a:p>
            <a:pPr lvl="1"/>
            <a:r>
              <a:rPr lang="en-US" altLang="ja-JP" dirty="0"/>
              <a:t>A man was killed</a:t>
            </a:r>
          </a:p>
          <a:p>
            <a:r>
              <a:rPr kumimoji="1" lang="ja-JP" altLang="en-US"/>
              <a:t>凶器は鋭利な刃物だったことがわかった</a:t>
            </a:r>
            <a:endParaRPr kumimoji="1" lang="en-US" altLang="ja-JP" dirty="0"/>
          </a:p>
          <a:p>
            <a:pPr lvl="1"/>
            <a:r>
              <a:rPr lang="en-US" altLang="ja-JP" dirty="0"/>
              <a:t>A man was killed with a sharp instrument</a:t>
            </a:r>
          </a:p>
          <a:p>
            <a:r>
              <a:rPr kumimoji="1" lang="ja-JP" altLang="en-US"/>
              <a:t>包丁だということがわかった</a:t>
            </a:r>
            <a:endParaRPr kumimoji="1" lang="en-US" altLang="ja-JP" dirty="0"/>
          </a:p>
          <a:p>
            <a:pPr lvl="1"/>
            <a:r>
              <a:rPr lang="en-US" altLang="ja-JP" dirty="0"/>
              <a:t>A man was killed with a sharp instrument, which was a kitchen knife</a:t>
            </a:r>
          </a:p>
          <a:p>
            <a:r>
              <a:rPr kumimoji="1" lang="ja-JP" altLang="en-US"/>
              <a:t>被害者はおじさんのジョンだった</a:t>
            </a:r>
            <a:r>
              <a:rPr kumimoji="1" lang="en-US" altLang="ja-JP" dirty="0"/>
              <a:t>!</a:t>
            </a:r>
          </a:p>
          <a:p>
            <a:pPr lvl="1"/>
            <a:r>
              <a:rPr lang="en-US" altLang="ja-JP" dirty="0"/>
              <a:t>A man, who was my uncle John was killed with a sharp instrument, which was a kitchen knife</a:t>
            </a:r>
          </a:p>
          <a:p>
            <a:r>
              <a:rPr lang="ja-JP" altLang="en-US"/>
              <a:t>犯人はハナおばさんだった</a:t>
            </a:r>
            <a:r>
              <a:rPr lang="en-US" altLang="ja-JP" dirty="0"/>
              <a:t>!</a:t>
            </a:r>
          </a:p>
          <a:p>
            <a:pPr marL="0" indent="0">
              <a:buNone/>
            </a:pPr>
            <a:r>
              <a:rPr lang="en-US" altLang="ja-JP" dirty="0"/>
              <a:t>	A man, who was my uncle John was killed by a woman, who was my aunt, Hana, with a sharp instrument, which was a kitchen knife.</a:t>
            </a:r>
            <a:endParaRPr lang="ja-JP" altLang="en-US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062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46A403-7667-E646-933C-A03D3AD6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情報が集まれば能動態が書ける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F91642-9929-3041-8F53-929ADA604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犯人はハナおばさんだった</a:t>
            </a:r>
            <a:r>
              <a:rPr kumimoji="1" lang="en-US" altLang="ja-JP" dirty="0"/>
              <a:t>!</a:t>
            </a:r>
          </a:p>
          <a:p>
            <a:pPr marL="0" indent="0">
              <a:buNone/>
            </a:pPr>
            <a:r>
              <a:rPr lang="en-US" altLang="ja-JP" dirty="0"/>
              <a:t>	A man, who was my uncle John was killed by a woman, who was my aunt, Hana, with a sharp instrument, which was a kitchen knife.</a:t>
            </a:r>
            <a:endParaRPr lang="ja-JP" altLang="en-US"/>
          </a:p>
          <a:p>
            <a:pPr marL="0" indent="0">
              <a:buNone/>
            </a:pP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整理して、能動態で書こう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035235-C222-BD41-8980-F7DEF90AD41C}"/>
              </a:ext>
            </a:extLst>
          </p:cNvPr>
          <p:cNvSpPr txBox="1"/>
          <p:nvPr/>
        </p:nvSpPr>
        <p:spPr>
          <a:xfrm>
            <a:off x="4833251" y="3429000"/>
            <a:ext cx="6288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情報が無駄に追加されていく感じの</a:t>
            </a:r>
            <a:endParaRPr kumimoji="1" lang="en-US" altLang="ja-JP" sz="2800" dirty="0"/>
          </a:p>
          <a:p>
            <a:r>
              <a:rPr lang="ja-JP" altLang="en-US" sz="2800"/>
              <a:t>英語は日本人の技術英語の文章で多い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3894218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473E8-5F7D-E641-AB1A-2D766E6A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3CF1C7-3F28-A142-A8E9-3F6AA99F8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Aunt Hana killed uncle John with a kitchen knife.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32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9D2B8-40BC-9F46-8E3D-BC681769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技術系の文章でやってみよう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20A670-8B35-434F-BC10-791CC0DD8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以下を英訳してみよう</a:t>
            </a:r>
            <a:endParaRPr kumimoji="1" lang="en-US" altLang="ja-JP" dirty="0"/>
          </a:p>
          <a:p>
            <a:pPr lvl="1"/>
            <a:r>
              <a:rPr lang="ja-JP" altLang="en-US"/>
              <a:t>作業油の流量は自動で調整されている</a:t>
            </a:r>
            <a:endParaRPr lang="en-US" altLang="ja-JP" dirty="0"/>
          </a:p>
          <a:p>
            <a:pPr lvl="2"/>
            <a:r>
              <a:rPr kumimoji="1" lang="en-US" altLang="ja-JP" dirty="0"/>
              <a:t>The flow of the operating fluid</a:t>
            </a:r>
            <a:r>
              <a:rPr lang="en-US" altLang="ja-JP" dirty="0"/>
              <a:t> </a:t>
            </a:r>
            <a:r>
              <a:rPr kumimoji="1" lang="en-US" altLang="ja-JP" dirty="0"/>
              <a:t>is automatically regulated.</a:t>
            </a:r>
          </a:p>
          <a:p>
            <a:pPr lvl="1"/>
            <a:r>
              <a:rPr lang="ja-JP" altLang="en-US"/>
              <a:t>アクチュエータに送られる</a:t>
            </a:r>
            <a:endParaRPr lang="en-US" altLang="ja-JP" dirty="0"/>
          </a:p>
          <a:p>
            <a:pPr lvl="2"/>
            <a:r>
              <a:rPr lang="en-US" altLang="ja-JP" dirty="0"/>
              <a:t>The flow of the operating fluid, which is fed to the actuator, is automatically regulated</a:t>
            </a:r>
            <a:endParaRPr kumimoji="1" lang="en-US" altLang="ja-JP" dirty="0"/>
          </a:p>
          <a:p>
            <a:pPr lvl="1"/>
            <a:r>
              <a:rPr lang="ja-JP" altLang="en-US"/>
              <a:t>感圧弁によって流量は調整される</a:t>
            </a:r>
            <a:endParaRPr lang="en-US" altLang="ja-JP" dirty="0"/>
          </a:p>
          <a:p>
            <a:pPr marL="914400" lvl="2" indent="0">
              <a:buNone/>
            </a:pPr>
            <a:r>
              <a:rPr lang="en-US" altLang="ja-JP" dirty="0"/>
              <a:t>The flow of the operating fluid, which is fed to the actuator, is automatically regulated by pressure-sensitive valves</a:t>
            </a:r>
          </a:p>
          <a:p>
            <a:pPr marL="914400" lvl="2" indent="0">
              <a:buNone/>
            </a:pPr>
            <a:endParaRPr kumimoji="1" lang="en-US" altLang="ja-JP" dirty="0"/>
          </a:p>
          <a:p>
            <a:pPr lvl="1"/>
            <a:r>
              <a:rPr lang="ja-JP" altLang="en-US"/>
              <a:t>整理して、能動態で書こう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55572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1BDB5-844A-4F4D-A1F6-BABCD75C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72241A-47E9-EF48-ABE8-AB35DD86F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Pressure-sensitive valves automatically regulate the flow of the fluid fed to the actuator.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025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4B36B-C897-974A-9C25-EF38CC2F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なんで受け身で書いちゃうの</a:t>
            </a:r>
            <a:r>
              <a:rPr kumimoji="1" lang="en-US" altLang="ja-JP" dirty="0"/>
              <a:t>?</a:t>
            </a:r>
            <a:br>
              <a:rPr kumimoji="1" lang="en-US" altLang="ja-JP" dirty="0"/>
            </a:br>
            <a:r>
              <a:rPr kumimoji="1" lang="ja-JP" altLang="en-US"/>
              <a:t>うっかり受け身は通じない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5FB663-8F20-C646-AF2E-9304F8DC6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ありがちな理由　命令は失礼だと思ったから</a:t>
            </a:r>
            <a:endParaRPr lang="en-US" altLang="ja-JP" dirty="0"/>
          </a:p>
          <a:p>
            <a:r>
              <a:rPr kumimoji="1" lang="ja-JP" altLang="en-US"/>
              <a:t>以下を英訳しよう</a:t>
            </a:r>
            <a:endParaRPr kumimoji="1" lang="en-US" altLang="ja-JP" dirty="0"/>
          </a:p>
          <a:p>
            <a:pPr lvl="1"/>
            <a:r>
              <a:rPr lang="ja-JP" altLang="en-US"/>
              <a:t>動作中にカバーを開けることは避けてください</a:t>
            </a:r>
            <a:endParaRPr lang="en-US" altLang="ja-JP" dirty="0"/>
          </a:p>
          <a:p>
            <a:pPr lvl="1"/>
            <a:r>
              <a:rPr kumimoji="1" lang="ja-JP" altLang="en-US"/>
              <a:t>ありがち</a:t>
            </a:r>
            <a:r>
              <a:rPr kumimoji="1" lang="en-US" altLang="ja-JP" dirty="0"/>
              <a:t>: Opening the cover must be avoided during operation</a:t>
            </a:r>
          </a:p>
          <a:p>
            <a:r>
              <a:rPr lang="ja-JP" altLang="en-US"/>
              <a:t>素直に訳そう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87520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0376B-C7B3-5345-8F33-775F6F59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素直な訳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5D0A79-EFE1-B340-9D39-2AACE7058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Avoid opening the cover during operation</a:t>
            </a:r>
          </a:p>
          <a:p>
            <a:r>
              <a:rPr lang="en-US" altLang="ja-JP" dirty="0"/>
              <a:t>Do not open the cover during operation</a:t>
            </a:r>
          </a:p>
          <a:p>
            <a:endParaRPr kumimoji="1" lang="en-US" altLang="ja-JP" dirty="0"/>
          </a:p>
          <a:p>
            <a:r>
              <a:rPr kumimoji="1" lang="ja-JP" altLang="en-US"/>
              <a:t>命令形というのは文法用語</a:t>
            </a:r>
            <a:endParaRPr kumimoji="1" lang="en-US" altLang="ja-JP" dirty="0"/>
          </a:p>
          <a:p>
            <a:pPr lvl="1"/>
            <a:r>
              <a:rPr lang="ja-JP" altLang="en-US"/>
              <a:t>文脈で判断しよう</a:t>
            </a:r>
            <a:endParaRPr lang="en-US" altLang="ja-JP" dirty="0"/>
          </a:p>
          <a:p>
            <a:pPr lvl="1"/>
            <a:r>
              <a:rPr kumimoji="1" lang="en-US" altLang="ja-JP" dirty="0"/>
              <a:t>Must be avoid </a:t>
            </a:r>
            <a:r>
              <a:rPr kumimoji="1" lang="ja-JP" altLang="en-US"/>
              <a:t>の方が強い口調</a:t>
            </a:r>
            <a:endParaRPr kumimoji="1" lang="en-US" altLang="ja-JP" dirty="0"/>
          </a:p>
          <a:p>
            <a:r>
              <a:rPr lang="en-US" altLang="ja-JP" dirty="0"/>
              <a:t>Do not </a:t>
            </a:r>
            <a:r>
              <a:rPr lang="ja-JP" altLang="en-US"/>
              <a:t>と</a:t>
            </a:r>
            <a:r>
              <a:rPr lang="en-US" altLang="ja-JP" dirty="0"/>
              <a:t> Avoid</a:t>
            </a:r>
            <a:r>
              <a:rPr lang="ja-JP" altLang="en-US"/>
              <a:t>どっちがいい</a:t>
            </a:r>
            <a:r>
              <a:rPr lang="en-US" altLang="ja-JP" dirty="0"/>
              <a:t>?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128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9B548-B1C5-9C4E-94EB-677C475C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ありがちな理由</a:t>
            </a:r>
            <a:r>
              <a:rPr kumimoji="1" lang="en-US" altLang="ja-JP" dirty="0"/>
              <a:t>②</a:t>
            </a:r>
            <a:r>
              <a:rPr kumimoji="1" lang="ja-JP" altLang="en-US"/>
              <a:t>　なんとなく</a:t>
            </a:r>
            <a:br>
              <a:rPr kumimoji="1" lang="en-US" altLang="ja-JP" dirty="0"/>
            </a:br>
            <a:r>
              <a:rPr kumimoji="1" lang="en-US" altLang="ja-JP" dirty="0"/>
              <a:t>(</a:t>
            </a:r>
            <a:r>
              <a:rPr lang="ja-JP" altLang="en-US"/>
              <a:t>主語がないと、受け身にしてしまう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BA51A1-E05E-FD4C-85B6-5FD5CEB6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ミーティングを頻繁に行い、コスト意識の徹底を図ることが必要だ</a:t>
            </a:r>
            <a:endParaRPr kumimoji="1" lang="en-US" altLang="ja-JP" dirty="0"/>
          </a:p>
          <a:p>
            <a:r>
              <a:rPr lang="en-US" altLang="ja-JP" dirty="0"/>
              <a:t>It is necessary that meetings </a:t>
            </a:r>
            <a:r>
              <a:rPr lang="en-US" altLang="ja-JP" dirty="0">
                <a:solidFill>
                  <a:schemeClr val="accent1"/>
                </a:solidFill>
              </a:rPr>
              <a:t>be held </a:t>
            </a:r>
            <a:r>
              <a:rPr lang="en-US" altLang="ja-JP" dirty="0"/>
              <a:t>frequently and thoroughness of cost awareness </a:t>
            </a:r>
            <a:r>
              <a:rPr lang="en-US" altLang="ja-JP" dirty="0">
                <a:solidFill>
                  <a:schemeClr val="accent1"/>
                </a:solidFill>
              </a:rPr>
              <a:t>be intended</a:t>
            </a:r>
          </a:p>
          <a:p>
            <a:pPr lvl="1"/>
            <a:r>
              <a:rPr lang="ja-JP" altLang="en-US">
                <a:solidFill>
                  <a:schemeClr val="accent1"/>
                </a:solidFill>
              </a:rPr>
              <a:t>必要事項を表す</a:t>
            </a:r>
            <a:r>
              <a:rPr lang="en-US" altLang="ja-JP" dirty="0">
                <a:solidFill>
                  <a:schemeClr val="accent1"/>
                </a:solidFill>
              </a:rPr>
              <a:t>that</a:t>
            </a:r>
            <a:r>
              <a:rPr lang="ja-JP" altLang="en-US">
                <a:solidFill>
                  <a:schemeClr val="accent1"/>
                </a:solidFill>
              </a:rPr>
              <a:t>節の中は原形を使う</a:t>
            </a:r>
            <a:endParaRPr lang="en-US" altLang="ja-JP" dirty="0">
              <a:solidFill>
                <a:schemeClr val="accent1"/>
              </a:solidFill>
            </a:endParaRPr>
          </a:p>
          <a:p>
            <a:pPr lvl="1"/>
            <a:r>
              <a:rPr lang="ja-JP" altLang="en-US"/>
              <a:t>英語がなんか変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kumimoji="1" lang="ja-JP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71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2E166-E543-444D-953F-41278DDA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簡単にしてみよう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A93F5-DEE2-814A-9A56-FD253FF8D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ミーティングを頻繁に行い、コスト意識の徹底を図ることが必要だ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522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8624C-11BC-AD4A-8947-E05334DF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FD5927-023D-CE43-B92E-69C6885E4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ja-JP" altLang="en-US"/>
              <a:t>私達はミーティングを頻繁に行う必要がある</a:t>
            </a:r>
            <a:endParaRPr kumimoji="1" lang="en-US" altLang="ja-JP" dirty="0"/>
          </a:p>
          <a:p>
            <a:pPr lvl="1"/>
            <a:r>
              <a:rPr lang="en-US" altLang="ja-JP" dirty="0"/>
              <a:t>We need to hold meetings frequently</a:t>
            </a:r>
          </a:p>
          <a:p>
            <a:r>
              <a:rPr kumimoji="1" lang="ja-JP" altLang="en-US"/>
              <a:t>みんながコスト意識を持っている</a:t>
            </a:r>
            <a:endParaRPr kumimoji="1" lang="en-US" altLang="ja-JP" dirty="0"/>
          </a:p>
          <a:p>
            <a:pPr lvl="1"/>
            <a:r>
              <a:rPr lang="en-US" altLang="ja-JP" dirty="0"/>
              <a:t>We need to make everybody aware of cost</a:t>
            </a:r>
          </a:p>
          <a:p>
            <a:r>
              <a:rPr lang="ja-JP" altLang="en-US"/>
              <a:t>合わせて</a:t>
            </a:r>
            <a:endParaRPr lang="en-US" altLang="ja-JP" dirty="0"/>
          </a:p>
          <a:p>
            <a:pPr lvl="1"/>
            <a:r>
              <a:rPr lang="en-US" altLang="ja-JP" dirty="0"/>
              <a:t>We need to hold meetings frequently and make everybody aware of cost</a:t>
            </a:r>
            <a:br>
              <a:rPr lang="en-US" altLang="ja-JP" dirty="0"/>
            </a:br>
            <a:br>
              <a:rPr lang="en-US" altLang="ja-JP" dirty="0"/>
            </a:br>
            <a:endParaRPr lang="en-US" altLang="ja-JP" dirty="0"/>
          </a:p>
          <a:p>
            <a:r>
              <a:rPr lang="en-US" altLang="ja-JP" dirty="0"/>
              <a:t>thoroughness</a:t>
            </a:r>
            <a:r>
              <a:rPr kumimoji="1" lang="en-US" altLang="ja-JP" dirty="0"/>
              <a:t> of cost awareness</a:t>
            </a:r>
          </a:p>
          <a:p>
            <a:pPr lvl="1"/>
            <a:r>
              <a:rPr lang="ja-JP" altLang="en-US"/>
              <a:t>コスト意識自体が徹底的だ</a:t>
            </a:r>
            <a:r>
              <a:rPr lang="en-US" altLang="ja-JP" dirty="0"/>
              <a:t> -&gt;</a:t>
            </a:r>
            <a:r>
              <a:rPr lang="ja-JP" altLang="en-US"/>
              <a:t>おかしい</a:t>
            </a:r>
            <a:endParaRPr lang="en-US" altLang="ja-JP" dirty="0"/>
          </a:p>
          <a:p>
            <a:r>
              <a:rPr kumimoji="1" lang="ja-JP" altLang="en-US"/>
              <a:t>図る</a:t>
            </a:r>
            <a:r>
              <a:rPr kumimoji="1" lang="en-US" altLang="ja-JP" dirty="0"/>
              <a:t>-&gt; be intended </a:t>
            </a:r>
            <a:r>
              <a:rPr kumimoji="1" lang="ja-JP" altLang="en-US"/>
              <a:t>英語の</a:t>
            </a:r>
            <a:r>
              <a:rPr kumimoji="1" lang="en-US" altLang="ja-JP" dirty="0"/>
              <a:t>intended</a:t>
            </a:r>
            <a:r>
              <a:rPr kumimoji="1" lang="ja-JP" altLang="en-US"/>
              <a:t>は「意図」するだけ</a:t>
            </a:r>
          </a:p>
        </p:txBody>
      </p:sp>
    </p:spTree>
    <p:extLst>
      <p:ext uri="{BB962C8B-B14F-4D97-AF65-F5344CB8AC3E}">
        <p14:creationId xmlns:p14="http://schemas.microsoft.com/office/powerpoint/2010/main" val="3643027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1F377-1C77-2E4B-AD20-830C77C5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使うなら、うまく使おう受動態</a:t>
            </a:r>
            <a:br>
              <a:rPr kumimoji="1" lang="en-US" altLang="ja-JP" dirty="0"/>
            </a:br>
            <a:r>
              <a:rPr kumimoji="1" lang="ja-JP" altLang="en-US"/>
              <a:t>主語を統一したいとき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BD3D6D-0745-1E4D-852E-795092F34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以下を訳そう</a:t>
            </a:r>
            <a:endParaRPr kumimoji="1" lang="en-US" altLang="ja-JP" dirty="0"/>
          </a:p>
          <a:p>
            <a:pPr lvl="1"/>
            <a:r>
              <a:rPr lang="ja-JP" altLang="en-US"/>
              <a:t>ユーザマニュアルはドキュメント管理部が作成し、技術部が確認した上で、製品に添付されます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20485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77EA9-9D2A-0F4E-B333-05866108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65B71B-0A59-1E46-B979-997C82DEB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u="sng" dirty="0"/>
              <a:t>The Documentation Department </a:t>
            </a:r>
            <a:r>
              <a:rPr kumimoji="1" lang="en-US" altLang="ja-JP" dirty="0"/>
              <a:t>will generate the user’s manual, </a:t>
            </a:r>
            <a:r>
              <a:rPr kumimoji="1" lang="en-US" altLang="ja-JP" u="sng" dirty="0"/>
              <a:t>the Technical Department will verify it </a:t>
            </a:r>
            <a:r>
              <a:rPr kumimoji="1" lang="en-US" altLang="ja-JP" dirty="0"/>
              <a:t>, and </a:t>
            </a:r>
            <a:r>
              <a:rPr kumimoji="1" lang="en-US" altLang="ja-JP" u="sng" dirty="0"/>
              <a:t>it</a:t>
            </a:r>
            <a:r>
              <a:rPr kumimoji="1" lang="en-US" altLang="ja-JP" dirty="0"/>
              <a:t> will be attached to the product</a:t>
            </a:r>
          </a:p>
          <a:p>
            <a:r>
              <a:rPr lang="ja-JP" altLang="en-US"/>
              <a:t>主語が入れ替わってくる</a:t>
            </a:r>
            <a:endParaRPr lang="en-US" altLang="ja-JP" dirty="0"/>
          </a:p>
          <a:p>
            <a:r>
              <a:rPr kumimoji="1" lang="ja-JP" altLang="en-US"/>
              <a:t>主語を１つにしたい。どれを主語にする？</a:t>
            </a:r>
          </a:p>
        </p:txBody>
      </p:sp>
    </p:spTree>
    <p:extLst>
      <p:ext uri="{BB962C8B-B14F-4D97-AF65-F5344CB8AC3E}">
        <p14:creationId xmlns:p14="http://schemas.microsoft.com/office/powerpoint/2010/main" val="1358792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ADFD7-1781-A74C-8A8D-5E91AD54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B3C94B-FFE8-1E44-9E03-AD038FA3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The user’s manual will be generated by the Documentation Department, verified by the Technical Department, and attached to the product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44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1F99B3-464F-AF4D-A72A-D290F29B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受動態を積極的に使う</a:t>
            </a:r>
            <a:br>
              <a:rPr kumimoji="1" lang="en-US" altLang="ja-JP" dirty="0"/>
            </a:br>
            <a:r>
              <a:rPr kumimoji="1" lang="ja-JP" altLang="en-US"/>
              <a:t>主語を短くしたい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241E1E-B68C-604F-B1D5-EC58334FC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英訳してみよう</a:t>
            </a:r>
            <a:endParaRPr kumimoji="1" lang="en-US" altLang="ja-JP" dirty="0"/>
          </a:p>
          <a:p>
            <a:pPr lvl="1"/>
            <a:r>
              <a:rPr kumimoji="1" lang="ja-JP" altLang="en-US"/>
              <a:t>汚染の原因は、近隣の有害化学物質の漏れであった</a:t>
            </a:r>
          </a:p>
        </p:txBody>
      </p:sp>
    </p:spTree>
    <p:extLst>
      <p:ext uri="{BB962C8B-B14F-4D97-AF65-F5344CB8AC3E}">
        <p14:creationId xmlns:p14="http://schemas.microsoft.com/office/powerpoint/2010/main" val="110009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9E3A68-847A-234E-84EA-8E30BE19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715254-4B01-E243-8D46-9362DB0A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u="sng" dirty="0"/>
              <a:t>The cause of the pollution </a:t>
            </a:r>
            <a:r>
              <a:rPr kumimoji="1" lang="en-US" altLang="ja-JP" dirty="0"/>
              <a:t>was the leak of a toxic chemical from a nearby plant</a:t>
            </a:r>
          </a:p>
          <a:p>
            <a:pPr lvl="1"/>
            <a:r>
              <a:rPr lang="ja-JP" altLang="en-US"/>
              <a:t>名詞の連続で回りくどい</a:t>
            </a:r>
            <a:endParaRPr kumimoji="1" lang="en-US" altLang="ja-JP" dirty="0"/>
          </a:p>
          <a:p>
            <a:r>
              <a:rPr lang="en-US" altLang="ja-JP" u="sng" dirty="0"/>
              <a:t>A toxic chemical leaking from a nearby plant </a:t>
            </a:r>
            <a:r>
              <a:rPr lang="en-US" altLang="ja-JP" dirty="0"/>
              <a:t>caused the pollution</a:t>
            </a:r>
          </a:p>
          <a:p>
            <a:pPr lvl="1"/>
            <a:r>
              <a:rPr lang="ja-JP" altLang="en-US"/>
              <a:t>主語が長い</a:t>
            </a:r>
            <a:endParaRPr lang="en-US" altLang="ja-JP" dirty="0"/>
          </a:p>
          <a:p>
            <a:r>
              <a:rPr kumimoji="1" lang="en-US" altLang="ja-JP" u="sng" dirty="0"/>
              <a:t>The pollution </a:t>
            </a:r>
            <a:r>
              <a:rPr kumimoji="1" lang="en-US" altLang="ja-JP" dirty="0"/>
              <a:t>was caused by a toxi</a:t>
            </a:r>
            <a:r>
              <a:rPr lang="en-US" altLang="ja-JP" dirty="0"/>
              <a:t>c chemical leaking from a nearby plant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944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A3D67-04CB-B04D-9844-6C75575A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受動態を積極的に使う</a:t>
            </a:r>
            <a:br>
              <a:rPr kumimoji="1" lang="en-US" altLang="ja-JP" dirty="0"/>
            </a:br>
            <a:r>
              <a:rPr kumimoji="1" lang="ja-JP" altLang="en-US"/>
              <a:t>主語をぼかしたいとき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7D437A-D89C-704F-A1C3-9B615C6EB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必要書類の提示が期日までにございませんでしたので、ご注文はキャンセルとなりました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能動態だと</a:t>
            </a:r>
            <a:endParaRPr kumimoji="1" lang="en-US" altLang="ja-JP" dirty="0"/>
          </a:p>
          <a:p>
            <a:pPr lvl="1"/>
            <a:r>
              <a:rPr lang="en-US" altLang="ja-JP" dirty="0"/>
              <a:t>We have cancelled your order because you did not submit necessary documents by the due date </a:t>
            </a:r>
          </a:p>
          <a:p>
            <a:pPr lvl="1"/>
            <a:endParaRPr kumimoji="1" lang="en-US" altLang="ja-JP" dirty="0"/>
          </a:p>
          <a:p>
            <a:r>
              <a:rPr lang="ja-JP" altLang="en-US"/>
              <a:t>角が立たないように受動態で書いてみよう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30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8B7C5-18A8-FB41-8E5C-1E7B26E4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解答例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808AC0-993C-5F42-AE8F-E58C05BB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Your order has been cancelled because necessary documents were not submitted by the due date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855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0C26E-CF5C-F349-AABD-969AF714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受動態を積極的に使う</a:t>
            </a:r>
            <a:br>
              <a:rPr kumimoji="1" lang="en-US" altLang="ja-JP" dirty="0"/>
            </a:br>
            <a:r>
              <a:rPr kumimoji="1" lang="ja-JP" altLang="en-US"/>
              <a:t>責任の所在をあいまいにする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5518FE-DCE1-E742-8189-23A68FB7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基礎と構造体の検査は３日以内に行われます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We will inspect the foundation and the structure within three days</a:t>
            </a:r>
          </a:p>
          <a:p>
            <a:pPr lvl="1"/>
            <a:r>
              <a:rPr lang="en-US" altLang="ja-JP" dirty="0"/>
              <a:t>We </a:t>
            </a:r>
            <a:r>
              <a:rPr lang="ja-JP" altLang="en-US"/>
              <a:t>と言いたくない、確定したくない。。</a:t>
            </a:r>
            <a:endParaRPr lang="en-US" altLang="ja-JP" dirty="0"/>
          </a:p>
          <a:p>
            <a:pPr lvl="1"/>
            <a:r>
              <a:rPr kumimoji="1" lang="ja-JP" altLang="en-US"/>
              <a:t>受動態で責任の所在をあいまいにしよう</a:t>
            </a:r>
          </a:p>
        </p:txBody>
      </p:sp>
    </p:spTree>
    <p:extLst>
      <p:ext uri="{BB962C8B-B14F-4D97-AF65-F5344CB8AC3E}">
        <p14:creationId xmlns:p14="http://schemas.microsoft.com/office/powerpoint/2010/main" val="3067406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FDEEF-71AE-5741-82A0-6EF9241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解答例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7AAA8-AAD8-DB4E-9A40-5B9C3DCE6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The foundation and the structure will be inspected within three days</a:t>
            </a:r>
          </a:p>
          <a:p>
            <a:endParaRPr lang="en-US" altLang="ja-JP" dirty="0"/>
          </a:p>
          <a:p>
            <a:r>
              <a:rPr lang="ja-JP" altLang="en-US"/>
              <a:t>責任は自分で持ち、他の人にやってもらう場合</a:t>
            </a:r>
            <a:endParaRPr lang="en-US" altLang="ja-JP" dirty="0"/>
          </a:p>
          <a:p>
            <a:pPr lvl="1"/>
            <a:r>
              <a:rPr lang="en-US" altLang="ja-JP" dirty="0"/>
              <a:t>We will have the foundation and the structure inspected within three days</a:t>
            </a:r>
          </a:p>
          <a:p>
            <a:pPr lvl="1"/>
            <a:r>
              <a:rPr lang="en-US" altLang="ja-JP" dirty="0"/>
              <a:t>have + </a:t>
            </a:r>
            <a:r>
              <a:rPr lang="ja-JP" altLang="en-US"/>
              <a:t>目的語</a:t>
            </a:r>
            <a:r>
              <a:rPr lang="en-US" altLang="ja-JP" dirty="0"/>
              <a:t> + </a:t>
            </a:r>
            <a:r>
              <a:rPr lang="ja-JP" altLang="en-US"/>
              <a:t>過去分詞</a:t>
            </a:r>
            <a:r>
              <a:rPr lang="en-US" altLang="ja-JP" dirty="0"/>
              <a:t> (</a:t>
            </a:r>
            <a:r>
              <a:rPr lang="ja-JP" altLang="en-US"/>
              <a:t>目的語を</a:t>
            </a:r>
            <a:r>
              <a:rPr lang="en-US" altLang="ja-JP" dirty="0"/>
              <a:t>~</a:t>
            </a:r>
            <a:r>
              <a:rPr lang="ja-JP" altLang="en-US"/>
              <a:t>してもらう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2173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529F56-48F8-494A-B50D-B6D1DA4B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受動態を積極的に使う</a:t>
            </a:r>
            <a:br>
              <a:rPr kumimoji="1" lang="en-US" altLang="ja-JP" dirty="0"/>
            </a:br>
            <a:r>
              <a:rPr kumimoji="1" lang="ja-JP" altLang="en-US"/>
              <a:t>流れに合わせて話題を</a:t>
            </a:r>
            <a:r>
              <a:rPr lang="ja-JP" altLang="en-US"/>
              <a:t>進めたい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5A3C49-CAA0-A143-8EE8-F37E06782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２つを比べよう</a:t>
            </a:r>
            <a:endParaRPr lang="en-US" altLang="ja-JP" dirty="0"/>
          </a:p>
          <a:p>
            <a:pPr lvl="1"/>
            <a:r>
              <a:rPr kumimoji="1" lang="ja-JP" altLang="en-US"/>
              <a:t>本ユニットは２つのモータ</a:t>
            </a:r>
            <a:r>
              <a:rPr kumimoji="1" lang="en-US" altLang="ja-JP" dirty="0"/>
              <a:t>(</a:t>
            </a:r>
            <a:r>
              <a:rPr kumimoji="1" lang="ja-JP" altLang="en-US"/>
              <a:t>回転モータとリニアモータ</a:t>
            </a:r>
            <a:r>
              <a:rPr kumimoji="1" lang="en-US" altLang="ja-JP" dirty="0"/>
              <a:t>)</a:t>
            </a:r>
            <a:r>
              <a:rPr kumimoji="1" lang="ja-JP" altLang="en-US"/>
              <a:t>が使われている。回転モータがトレイを駆動し、リニアモータが光学ヘッドを駆動している</a:t>
            </a:r>
            <a:endParaRPr kumimoji="1" lang="en-US" altLang="ja-JP" dirty="0"/>
          </a:p>
          <a:p>
            <a:pPr lvl="1"/>
            <a:r>
              <a:rPr lang="ja-JP" altLang="en-US"/>
              <a:t>本ユニットにはトレイと光学ヘッドの２つの可動部がある。トレイは回転モータで駆動し、光学ヘッドはリニアモータが駆動している</a:t>
            </a:r>
            <a:endParaRPr lang="en-US" altLang="ja-JP" dirty="0"/>
          </a:p>
          <a:p>
            <a:r>
              <a:rPr kumimoji="1" lang="ja-JP" altLang="en-US"/>
              <a:t>違いはモータと可動部のどちらかを主題にしているか。主題をそのままに話を進めたい</a:t>
            </a:r>
          </a:p>
        </p:txBody>
      </p:sp>
    </p:spTree>
    <p:extLst>
      <p:ext uri="{BB962C8B-B14F-4D97-AF65-F5344CB8AC3E}">
        <p14:creationId xmlns:p14="http://schemas.microsoft.com/office/powerpoint/2010/main" val="3690535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CFD54-835D-73B6-EED3-C8105F95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回答例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7F3E28-8D0B-ABA8-3715-3F0D4EBD7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This unit has two motors (rotary and linear). The rotary motor drives the tray, and the linear motor drives the optical head.</a:t>
            </a:r>
          </a:p>
          <a:p>
            <a:r>
              <a:rPr lang="en-US" altLang="ja-JP" dirty="0"/>
              <a:t>This unit has two moving parts: a tray and an optical head. The tray is driven by a rotary motor, and the optical head is driven by a linear motor.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7240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62CBD-BA96-1D4B-881E-02AEDCA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427864-2384-BB4F-AD73-FFB448F6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結局、日本語（母国語）の能力が重要</a:t>
            </a:r>
            <a:endParaRPr kumimoji="1" lang="en-US" altLang="ja-JP" dirty="0"/>
          </a:p>
          <a:p>
            <a:r>
              <a:rPr lang="ja-JP" altLang="en-US"/>
              <a:t>必要最小限の日本語にしてから、英語にする⇒技術英語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毎回、</a:t>
            </a:r>
            <a:r>
              <a:rPr lang="en-US" altLang="ja-JP" dirty="0"/>
              <a:t>Miro</a:t>
            </a:r>
            <a:r>
              <a:rPr lang="ja-JP" altLang="en-US"/>
              <a:t>を使った演習、数回の課題提出</a:t>
            </a:r>
            <a:endParaRPr lang="en-US" altLang="ja-JP" dirty="0"/>
          </a:p>
          <a:p>
            <a:pPr lvl="1"/>
            <a:r>
              <a:rPr lang="ja-JP" altLang="en-US"/>
              <a:t>英語論文を書く予定があれば、それを提出してもいいです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1428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10425</TotalTime>
  <Words>1795</Words>
  <Application>Microsoft Macintosh PowerPoint</Application>
  <PresentationFormat>ワイド画面</PresentationFormat>
  <Paragraphs>191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1" baseType="lpstr">
      <vt:lpstr>游ゴシック</vt:lpstr>
      <vt:lpstr>游ゴシック Light</vt:lpstr>
      <vt:lpstr>Arial</vt:lpstr>
      <vt:lpstr>Office テーマ</vt:lpstr>
      <vt:lpstr>情報論3 2024/4/24 2限(10:40)</vt:lpstr>
      <vt:lpstr>技術英語ライティングの基本</vt:lpstr>
      <vt:lpstr>まっすぐ能動態主義</vt:lpstr>
      <vt:lpstr>BかCですね(敬語の英訳は難しい) どっちがいいでしょうか</vt:lpstr>
      <vt:lpstr>差の出ない日本語、出る英語</vt:lpstr>
      <vt:lpstr>ちょっと変えれば能動態にも 受動態にもなる</vt:lpstr>
      <vt:lpstr>英語だと能動態と受動態で全く違う</vt:lpstr>
      <vt:lpstr>受動態は文法ミスに気づきにくい</vt:lpstr>
      <vt:lpstr>GiveとApplyの性質の違い</vt:lpstr>
      <vt:lpstr>能動態で英訳しよう(受動態のほうがわかりやすければ受動態でもいいです)</vt:lpstr>
      <vt:lpstr>解答例</vt:lpstr>
      <vt:lpstr>もう一例、英訳の気になる点は？</vt:lpstr>
      <vt:lpstr>時制に気をつけないといけない</vt:lpstr>
      <vt:lpstr>能動態にしよう</vt:lpstr>
      <vt:lpstr>解答例</vt:lpstr>
      <vt:lpstr>情報が集まれば能動態が書ける</vt:lpstr>
      <vt:lpstr>情報が集まれば能動態が書ける</vt:lpstr>
      <vt:lpstr>解答例</vt:lpstr>
      <vt:lpstr>技術系の文章でやってみよう</vt:lpstr>
      <vt:lpstr>解答例</vt:lpstr>
      <vt:lpstr>なんで受け身で書いちゃうの? うっかり受け身は通じない</vt:lpstr>
      <vt:lpstr>素直な訳</vt:lpstr>
      <vt:lpstr>ありがちな理由②　なんとなく (主語がないと、受け身にしてしまう)</vt:lpstr>
      <vt:lpstr>簡単にしてみよう</vt:lpstr>
      <vt:lpstr>解答例</vt:lpstr>
      <vt:lpstr>使うなら、うまく使おう受動態 主語を統一したいとき</vt:lpstr>
      <vt:lpstr>解答例１</vt:lpstr>
      <vt:lpstr>解答例２</vt:lpstr>
      <vt:lpstr>受動態を積極的に使う 主語を短くしたい</vt:lpstr>
      <vt:lpstr>解答例</vt:lpstr>
      <vt:lpstr>受動態を積極的に使う 主語をぼかしたいとき</vt:lpstr>
      <vt:lpstr>解答例</vt:lpstr>
      <vt:lpstr>受動態を積極的に使う 責任の所在をあいまいにする</vt:lpstr>
      <vt:lpstr>解答例</vt:lpstr>
      <vt:lpstr>受動態を積極的に使う 流れに合わせて話題を進めたい</vt:lpstr>
      <vt:lpstr>回答例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マツノユタカ</dc:creator>
  <cp:lastModifiedBy>マツノユタカ</cp:lastModifiedBy>
  <cp:revision>318</cp:revision>
  <cp:lastPrinted>2020-09-30T21:56:33Z</cp:lastPrinted>
  <dcterms:created xsi:type="dcterms:W3CDTF">2020-09-21T06:31:47Z</dcterms:created>
  <dcterms:modified xsi:type="dcterms:W3CDTF">2024-04-20T09:14:29Z</dcterms:modified>
</cp:coreProperties>
</file>