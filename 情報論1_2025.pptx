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0" r:id="rId3"/>
    <p:sldId id="281" r:id="rId4"/>
    <p:sldId id="261" r:id="rId5"/>
    <p:sldId id="264" r:id="rId6"/>
    <p:sldId id="263" r:id="rId7"/>
    <p:sldId id="279" r:id="rId8"/>
    <p:sldId id="262" r:id="rId9"/>
    <p:sldId id="265" r:id="rId10"/>
    <p:sldId id="266" r:id="rId11"/>
    <p:sldId id="267" r:id="rId12"/>
    <p:sldId id="268" r:id="rId13"/>
    <p:sldId id="269" r:id="rId14"/>
    <p:sldId id="270" r:id="rId15"/>
    <p:sldId id="271" r:id="rId16"/>
    <p:sldId id="272" r:id="rId17"/>
    <p:sldId id="274" r:id="rId18"/>
    <p:sldId id="275" r:id="rId19"/>
    <p:sldId id="276" r:id="rId20"/>
    <p:sldId id="277" r:id="rId21"/>
    <p:sldId id="278" r:id="rId22"/>
    <p:sldId id="273" r:id="rId2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213"/>
    <p:restoredTop sz="96327"/>
  </p:normalViewPr>
  <p:slideViewPr>
    <p:cSldViewPr snapToGrid="0" snapToObjects="1">
      <p:cViewPr varScale="1">
        <p:scale>
          <a:sx n="127" d="100"/>
          <a:sy n="127" d="100"/>
        </p:scale>
        <p:origin x="100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981953-FB4F-CD4F-846E-E9BB8487644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A3C4F5C-C917-1E4C-A66A-15ED9E39CE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DBA0696-A198-2440-AAB6-07D3EB7E2A50}"/>
              </a:ext>
            </a:extLst>
          </p:cNvPr>
          <p:cNvSpPr>
            <a:spLocks noGrp="1"/>
          </p:cNvSpPr>
          <p:nvPr>
            <p:ph type="dt" sz="half" idx="10"/>
          </p:nvPr>
        </p:nvSpPr>
        <p:spPr/>
        <p:txBody>
          <a:bodyPr/>
          <a:lstStyle/>
          <a:p>
            <a:fld id="{9854E857-21D8-D348-91A9-994C9AAD514D}" type="datetimeFigureOut">
              <a:rPr kumimoji="1" lang="ja-JP" altLang="en-US" smtClean="0"/>
              <a:t>2025/4/8</a:t>
            </a:fld>
            <a:endParaRPr kumimoji="1" lang="ja-JP" altLang="en-US"/>
          </a:p>
        </p:txBody>
      </p:sp>
      <p:sp>
        <p:nvSpPr>
          <p:cNvPr id="5" name="フッター プレースホルダー 4">
            <a:extLst>
              <a:ext uri="{FF2B5EF4-FFF2-40B4-BE49-F238E27FC236}">
                <a16:creationId xmlns:a16="http://schemas.microsoft.com/office/drawing/2014/main" id="{DF415D60-8677-E140-A024-4DFEF224735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3A3548F-70D6-3A4A-8E00-795AE6AC61E0}"/>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351135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C74176-1327-BD45-AF17-C84999A78C3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BF14666-8685-7E41-8073-CD8082D0A83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A5639C0-8EEE-EC44-A892-34F6F8515ABB}"/>
              </a:ext>
            </a:extLst>
          </p:cNvPr>
          <p:cNvSpPr>
            <a:spLocks noGrp="1"/>
          </p:cNvSpPr>
          <p:nvPr>
            <p:ph type="dt" sz="half" idx="10"/>
          </p:nvPr>
        </p:nvSpPr>
        <p:spPr/>
        <p:txBody>
          <a:bodyPr/>
          <a:lstStyle/>
          <a:p>
            <a:fld id="{9854E857-21D8-D348-91A9-994C9AAD514D}" type="datetimeFigureOut">
              <a:rPr kumimoji="1" lang="ja-JP" altLang="en-US" smtClean="0"/>
              <a:t>2025/4/8</a:t>
            </a:fld>
            <a:endParaRPr kumimoji="1" lang="ja-JP" altLang="en-US"/>
          </a:p>
        </p:txBody>
      </p:sp>
      <p:sp>
        <p:nvSpPr>
          <p:cNvPr id="5" name="フッター プレースホルダー 4">
            <a:extLst>
              <a:ext uri="{FF2B5EF4-FFF2-40B4-BE49-F238E27FC236}">
                <a16:creationId xmlns:a16="http://schemas.microsoft.com/office/drawing/2014/main" id="{0972660E-8783-6149-B06C-9D4F69BD7DE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FAC925F-8EF6-2949-A584-425E14876671}"/>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116925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369DDC-95D3-FF47-91D5-2B2A8A488F2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E464F6C-5F6B-4A4E-94CC-A4DD0E436F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E599145-154E-2E41-8940-076CA487DAD5}"/>
              </a:ext>
            </a:extLst>
          </p:cNvPr>
          <p:cNvSpPr>
            <a:spLocks noGrp="1"/>
          </p:cNvSpPr>
          <p:nvPr>
            <p:ph type="dt" sz="half" idx="10"/>
          </p:nvPr>
        </p:nvSpPr>
        <p:spPr/>
        <p:txBody>
          <a:bodyPr/>
          <a:lstStyle/>
          <a:p>
            <a:fld id="{9854E857-21D8-D348-91A9-994C9AAD514D}" type="datetimeFigureOut">
              <a:rPr kumimoji="1" lang="ja-JP" altLang="en-US" smtClean="0"/>
              <a:t>2025/4/8</a:t>
            </a:fld>
            <a:endParaRPr kumimoji="1" lang="ja-JP" altLang="en-US"/>
          </a:p>
        </p:txBody>
      </p:sp>
      <p:sp>
        <p:nvSpPr>
          <p:cNvPr id="5" name="フッター プレースホルダー 4">
            <a:extLst>
              <a:ext uri="{FF2B5EF4-FFF2-40B4-BE49-F238E27FC236}">
                <a16:creationId xmlns:a16="http://schemas.microsoft.com/office/drawing/2014/main" id="{26188BB7-EADB-5D4D-A808-C71E0150774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27E6CA6-D9D5-DD48-A17D-F7DB0196A9C9}"/>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1032755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6C9324-FA5D-1E4D-B0A9-98DA800F54C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ED812CA-FDF0-2348-96EF-717853E8CF58}"/>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23A4D42-044E-0D44-99E3-4BF618D9554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394CDEC-0A74-754F-9DBA-8D3EFFB76475}"/>
              </a:ext>
            </a:extLst>
          </p:cNvPr>
          <p:cNvSpPr>
            <a:spLocks noGrp="1"/>
          </p:cNvSpPr>
          <p:nvPr>
            <p:ph type="dt" sz="half" idx="10"/>
          </p:nvPr>
        </p:nvSpPr>
        <p:spPr/>
        <p:txBody>
          <a:bodyPr/>
          <a:lstStyle/>
          <a:p>
            <a:fld id="{9854E857-21D8-D348-91A9-994C9AAD514D}" type="datetimeFigureOut">
              <a:rPr kumimoji="1" lang="ja-JP" altLang="en-US" smtClean="0"/>
              <a:t>2025/4/8</a:t>
            </a:fld>
            <a:endParaRPr kumimoji="1" lang="ja-JP" altLang="en-US"/>
          </a:p>
        </p:txBody>
      </p:sp>
      <p:sp>
        <p:nvSpPr>
          <p:cNvPr id="6" name="フッター プレースホルダー 5">
            <a:extLst>
              <a:ext uri="{FF2B5EF4-FFF2-40B4-BE49-F238E27FC236}">
                <a16:creationId xmlns:a16="http://schemas.microsoft.com/office/drawing/2014/main" id="{B6A115FA-D86A-F14B-BAF3-0FC814AA3BD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BC09D8C-C831-2140-AE26-FE474A55D2C8}"/>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2451625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D14F03-3A61-2A4E-A0B1-6B6DFA8E7C8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1EFDE3-B0C6-E04E-A4C3-5680E679C0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B68ECDB8-B9D9-DD4F-B9EE-9F508CC5FD6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BE20BD7-55BC-E443-A7E8-C975BE5156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3F698DF-F84E-2F4A-A9D9-0B712B50615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421C911-7864-B645-97C2-4F1BBE8FC2FC}"/>
              </a:ext>
            </a:extLst>
          </p:cNvPr>
          <p:cNvSpPr>
            <a:spLocks noGrp="1"/>
          </p:cNvSpPr>
          <p:nvPr>
            <p:ph type="dt" sz="half" idx="10"/>
          </p:nvPr>
        </p:nvSpPr>
        <p:spPr/>
        <p:txBody>
          <a:bodyPr/>
          <a:lstStyle/>
          <a:p>
            <a:fld id="{9854E857-21D8-D348-91A9-994C9AAD514D}" type="datetimeFigureOut">
              <a:rPr kumimoji="1" lang="ja-JP" altLang="en-US" smtClean="0"/>
              <a:t>2025/4/8</a:t>
            </a:fld>
            <a:endParaRPr kumimoji="1" lang="ja-JP" altLang="en-US"/>
          </a:p>
        </p:txBody>
      </p:sp>
      <p:sp>
        <p:nvSpPr>
          <p:cNvPr id="8" name="フッター プレースホルダー 7">
            <a:extLst>
              <a:ext uri="{FF2B5EF4-FFF2-40B4-BE49-F238E27FC236}">
                <a16:creationId xmlns:a16="http://schemas.microsoft.com/office/drawing/2014/main" id="{18DA7EF2-22B4-1C4D-B088-8DE68A824EB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F91A03A-7024-CB4B-80D1-66A9C3B7A97F}"/>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2707321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92252B-2E5E-174B-8C2D-0F57B4C5043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9170A83-5CFD-1146-8B45-06A39BF78D8C}"/>
              </a:ext>
            </a:extLst>
          </p:cNvPr>
          <p:cNvSpPr>
            <a:spLocks noGrp="1"/>
          </p:cNvSpPr>
          <p:nvPr>
            <p:ph type="dt" sz="half" idx="10"/>
          </p:nvPr>
        </p:nvSpPr>
        <p:spPr/>
        <p:txBody>
          <a:bodyPr/>
          <a:lstStyle/>
          <a:p>
            <a:fld id="{9854E857-21D8-D348-91A9-994C9AAD514D}" type="datetimeFigureOut">
              <a:rPr kumimoji="1" lang="ja-JP" altLang="en-US" smtClean="0"/>
              <a:t>2025/4/8</a:t>
            </a:fld>
            <a:endParaRPr kumimoji="1" lang="ja-JP" altLang="en-US"/>
          </a:p>
        </p:txBody>
      </p:sp>
      <p:sp>
        <p:nvSpPr>
          <p:cNvPr id="4" name="フッター プレースホルダー 3">
            <a:extLst>
              <a:ext uri="{FF2B5EF4-FFF2-40B4-BE49-F238E27FC236}">
                <a16:creationId xmlns:a16="http://schemas.microsoft.com/office/drawing/2014/main" id="{137F3983-E737-8C40-9038-D40105CC9BF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7710954-3E3A-9047-BF70-A3A6C26E2BD8}"/>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1726873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48B3A85-BA65-1749-BD33-1F54ABE144F3}"/>
              </a:ext>
            </a:extLst>
          </p:cNvPr>
          <p:cNvSpPr>
            <a:spLocks noGrp="1"/>
          </p:cNvSpPr>
          <p:nvPr>
            <p:ph type="dt" sz="half" idx="10"/>
          </p:nvPr>
        </p:nvSpPr>
        <p:spPr/>
        <p:txBody>
          <a:bodyPr/>
          <a:lstStyle/>
          <a:p>
            <a:fld id="{9854E857-21D8-D348-91A9-994C9AAD514D}" type="datetimeFigureOut">
              <a:rPr kumimoji="1" lang="ja-JP" altLang="en-US" smtClean="0"/>
              <a:t>2025/4/8</a:t>
            </a:fld>
            <a:endParaRPr kumimoji="1" lang="ja-JP" altLang="en-US"/>
          </a:p>
        </p:txBody>
      </p:sp>
      <p:sp>
        <p:nvSpPr>
          <p:cNvPr id="3" name="フッター プレースホルダー 2">
            <a:extLst>
              <a:ext uri="{FF2B5EF4-FFF2-40B4-BE49-F238E27FC236}">
                <a16:creationId xmlns:a16="http://schemas.microsoft.com/office/drawing/2014/main" id="{C3BD3669-A7F0-FB42-8461-C5B85BDDD84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E3AB5B4-5F5C-4B4E-8BB1-EAE34F5C392A}"/>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4134119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6100A7-EF59-6448-958E-D51212C8EB2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29F755C-EF21-B04C-A1A8-2B9F5790DB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D815294-0503-7E4E-808F-E0979EB7E9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6023B99-7584-804E-8D35-4E64F9F1F687}"/>
              </a:ext>
            </a:extLst>
          </p:cNvPr>
          <p:cNvSpPr>
            <a:spLocks noGrp="1"/>
          </p:cNvSpPr>
          <p:nvPr>
            <p:ph type="dt" sz="half" idx="10"/>
          </p:nvPr>
        </p:nvSpPr>
        <p:spPr/>
        <p:txBody>
          <a:bodyPr/>
          <a:lstStyle/>
          <a:p>
            <a:fld id="{9854E857-21D8-D348-91A9-994C9AAD514D}" type="datetimeFigureOut">
              <a:rPr kumimoji="1" lang="ja-JP" altLang="en-US" smtClean="0"/>
              <a:t>2025/4/8</a:t>
            </a:fld>
            <a:endParaRPr kumimoji="1" lang="ja-JP" altLang="en-US"/>
          </a:p>
        </p:txBody>
      </p:sp>
      <p:sp>
        <p:nvSpPr>
          <p:cNvPr id="6" name="フッター プレースホルダー 5">
            <a:extLst>
              <a:ext uri="{FF2B5EF4-FFF2-40B4-BE49-F238E27FC236}">
                <a16:creationId xmlns:a16="http://schemas.microsoft.com/office/drawing/2014/main" id="{3F463488-2CD2-C449-A477-2F90C53F435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D526074-E9AD-A642-91B2-7502265FA306}"/>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108890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AAD13B-B4E9-2541-A5E2-82FDBCA66DA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360B1B5-B122-D446-AF28-B6967966D4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6BFC4C8-C521-4348-B702-1C0970DCB9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E92F803-97FE-5C49-AB13-1D10C7E66610}"/>
              </a:ext>
            </a:extLst>
          </p:cNvPr>
          <p:cNvSpPr>
            <a:spLocks noGrp="1"/>
          </p:cNvSpPr>
          <p:nvPr>
            <p:ph type="dt" sz="half" idx="10"/>
          </p:nvPr>
        </p:nvSpPr>
        <p:spPr/>
        <p:txBody>
          <a:bodyPr/>
          <a:lstStyle/>
          <a:p>
            <a:fld id="{9854E857-21D8-D348-91A9-994C9AAD514D}" type="datetimeFigureOut">
              <a:rPr kumimoji="1" lang="ja-JP" altLang="en-US" smtClean="0"/>
              <a:t>2025/4/8</a:t>
            </a:fld>
            <a:endParaRPr kumimoji="1" lang="ja-JP" altLang="en-US"/>
          </a:p>
        </p:txBody>
      </p:sp>
      <p:sp>
        <p:nvSpPr>
          <p:cNvPr id="6" name="フッター プレースホルダー 5">
            <a:extLst>
              <a:ext uri="{FF2B5EF4-FFF2-40B4-BE49-F238E27FC236}">
                <a16:creationId xmlns:a16="http://schemas.microsoft.com/office/drawing/2014/main" id="{C8594BA6-D603-9243-846C-6C3020EA78B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931EE6B-A160-C844-AC15-CA8E5E156719}"/>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1792660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35F966-3899-7346-881C-562961151E1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38E9B8F-2A3E-4340-AF26-5F630E7E1B0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F4D383F-FC9C-6A40-8938-45B44E1DE5F8}"/>
              </a:ext>
            </a:extLst>
          </p:cNvPr>
          <p:cNvSpPr>
            <a:spLocks noGrp="1"/>
          </p:cNvSpPr>
          <p:nvPr>
            <p:ph type="dt" sz="half" idx="10"/>
          </p:nvPr>
        </p:nvSpPr>
        <p:spPr/>
        <p:txBody>
          <a:bodyPr/>
          <a:lstStyle/>
          <a:p>
            <a:fld id="{9854E857-21D8-D348-91A9-994C9AAD514D}" type="datetimeFigureOut">
              <a:rPr kumimoji="1" lang="ja-JP" altLang="en-US" smtClean="0"/>
              <a:t>2025/4/8</a:t>
            </a:fld>
            <a:endParaRPr kumimoji="1" lang="ja-JP" altLang="en-US"/>
          </a:p>
        </p:txBody>
      </p:sp>
      <p:sp>
        <p:nvSpPr>
          <p:cNvPr id="5" name="フッター プレースホルダー 4">
            <a:extLst>
              <a:ext uri="{FF2B5EF4-FFF2-40B4-BE49-F238E27FC236}">
                <a16:creationId xmlns:a16="http://schemas.microsoft.com/office/drawing/2014/main" id="{AFECEDAA-89B5-A44D-A0DE-6F0532753B2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5A39C43-74D6-CA45-8817-91D67177312E}"/>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2391750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AF537C3-D360-1446-9EB3-17526F85385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0B7D822-5108-EE4A-BAFE-6B419E07C71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0AC4C77-648F-2B4B-9270-25FC06A7F162}"/>
              </a:ext>
            </a:extLst>
          </p:cNvPr>
          <p:cNvSpPr>
            <a:spLocks noGrp="1"/>
          </p:cNvSpPr>
          <p:nvPr>
            <p:ph type="dt" sz="half" idx="10"/>
          </p:nvPr>
        </p:nvSpPr>
        <p:spPr/>
        <p:txBody>
          <a:bodyPr/>
          <a:lstStyle/>
          <a:p>
            <a:fld id="{9854E857-21D8-D348-91A9-994C9AAD514D}" type="datetimeFigureOut">
              <a:rPr kumimoji="1" lang="ja-JP" altLang="en-US" smtClean="0"/>
              <a:t>2025/4/8</a:t>
            </a:fld>
            <a:endParaRPr kumimoji="1" lang="ja-JP" altLang="en-US"/>
          </a:p>
        </p:txBody>
      </p:sp>
      <p:sp>
        <p:nvSpPr>
          <p:cNvPr id="5" name="フッター プレースホルダー 4">
            <a:extLst>
              <a:ext uri="{FF2B5EF4-FFF2-40B4-BE49-F238E27FC236}">
                <a16:creationId xmlns:a16="http://schemas.microsoft.com/office/drawing/2014/main" id="{8E028DEB-538A-8746-B6D5-30BE4FC76CE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E171257-A18D-0B4A-B696-E357F2C311E9}"/>
              </a:ext>
            </a:extLst>
          </p:cNvPr>
          <p:cNvSpPr>
            <a:spLocks noGrp="1"/>
          </p:cNvSpPr>
          <p:nvPr>
            <p:ph type="sldNum" sz="quarter" idx="12"/>
          </p:nvPr>
        </p:nvSpPr>
        <p:spPr/>
        <p:txBody>
          <a:body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1543348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60FAF1B-A2D2-8E4C-A430-F2DC9A47F6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AE607B9-D6D0-EE4F-9ED6-B3E7257BC1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762EA4F-BFE1-0146-A159-104E7B0262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54E857-21D8-D348-91A9-994C9AAD514D}" type="datetimeFigureOut">
              <a:rPr kumimoji="1" lang="ja-JP" altLang="en-US" smtClean="0"/>
              <a:t>2025/4/8</a:t>
            </a:fld>
            <a:endParaRPr kumimoji="1" lang="ja-JP" altLang="en-US"/>
          </a:p>
        </p:txBody>
      </p:sp>
      <p:sp>
        <p:nvSpPr>
          <p:cNvPr id="5" name="フッター プレースホルダー 4">
            <a:extLst>
              <a:ext uri="{FF2B5EF4-FFF2-40B4-BE49-F238E27FC236}">
                <a16:creationId xmlns:a16="http://schemas.microsoft.com/office/drawing/2014/main" id="{17187D28-49FA-A746-8022-B7C9B8285C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3D4DFE2-576A-3343-8818-B08369087F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2A5546-671E-2840-8D96-2E52B985FB52}" type="slidenum">
              <a:rPr kumimoji="1" lang="ja-JP" altLang="en-US" smtClean="0"/>
              <a:t>‹#›</a:t>
            </a:fld>
            <a:endParaRPr kumimoji="1" lang="ja-JP" altLang="en-US"/>
          </a:p>
        </p:txBody>
      </p:sp>
    </p:spTree>
    <p:extLst>
      <p:ext uri="{BB962C8B-B14F-4D97-AF65-F5344CB8AC3E}">
        <p14:creationId xmlns:p14="http://schemas.microsoft.com/office/powerpoint/2010/main" val="1150850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atsuno.yutaka@nihon-u.ac.jp"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stcst.netlify.app/" TargetMode="External"/><Relationship Id="rId2" Type="http://schemas.openxmlformats.org/officeDocument/2006/relationships/hyperlink" Target="https://gamma.app/docs/AI-aiyl9h18zem8p8g?mode=doc" TargetMode="External"/><Relationship Id="rId1" Type="http://schemas.openxmlformats.org/officeDocument/2006/relationships/slideLayout" Target="../slideLayouts/slideLayout2.xml"/><Relationship Id="rId4" Type="http://schemas.openxmlformats.org/officeDocument/2006/relationships/hyperlink" Target="https://docs.google.com/presentation/d/1nM7Z7TVO5O69HxYzI4HpVCMyNhYt0MjQVFfmlH1Xd4E/edit?usp=sharing"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miro.com/app/board/uXjVIFwqpVc=/?share_link_id=803362125741"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9CB7DD-5471-3F4E-9906-614C4E17D01E}"/>
              </a:ext>
            </a:extLst>
          </p:cNvPr>
          <p:cNvSpPr>
            <a:spLocks noGrp="1"/>
          </p:cNvSpPr>
          <p:nvPr>
            <p:ph type="ctrTitle"/>
          </p:nvPr>
        </p:nvSpPr>
        <p:spPr/>
        <p:txBody>
          <a:bodyPr>
            <a:normAutofit fontScale="90000"/>
          </a:bodyPr>
          <a:lstStyle/>
          <a:p>
            <a:r>
              <a:rPr kumimoji="1" lang="ja-JP" altLang="en-US"/>
              <a:t>情報論</a:t>
            </a:r>
            <a:r>
              <a:rPr kumimoji="1" lang="en-US" altLang="ja-JP" dirty="0"/>
              <a:t>-1</a:t>
            </a:r>
            <a:br>
              <a:rPr kumimoji="1" lang="en-US" altLang="ja-JP" dirty="0"/>
            </a:br>
            <a:r>
              <a:rPr kumimoji="1" lang="en-US" altLang="ja-JP" dirty="0"/>
              <a:t>2025/4/9</a:t>
            </a:r>
            <a:br>
              <a:rPr kumimoji="1" lang="en-US" altLang="ja-JP" dirty="0"/>
            </a:br>
            <a:r>
              <a:rPr kumimoji="1" lang="ja-JP" altLang="en-US"/>
              <a:t>水曜</a:t>
            </a:r>
            <a:r>
              <a:rPr kumimoji="1" lang="en-US" altLang="ja-JP" dirty="0"/>
              <a:t>2</a:t>
            </a:r>
            <a:r>
              <a:rPr kumimoji="1" lang="ja-JP" altLang="en-US"/>
              <a:t>限</a:t>
            </a:r>
            <a:r>
              <a:rPr kumimoji="1" lang="en-US" altLang="ja-JP" dirty="0"/>
              <a:t>(10:40-)</a:t>
            </a:r>
            <a:endParaRPr kumimoji="1" lang="ja-JP" altLang="en-US"/>
          </a:p>
        </p:txBody>
      </p:sp>
      <p:sp>
        <p:nvSpPr>
          <p:cNvPr id="3" name="字幕 2">
            <a:extLst>
              <a:ext uri="{FF2B5EF4-FFF2-40B4-BE49-F238E27FC236}">
                <a16:creationId xmlns:a16="http://schemas.microsoft.com/office/drawing/2014/main" id="{AEAE8F18-4B41-C948-9B52-95796EA00F7C}"/>
              </a:ext>
            </a:extLst>
          </p:cNvPr>
          <p:cNvSpPr>
            <a:spLocks noGrp="1"/>
          </p:cNvSpPr>
          <p:nvPr>
            <p:ph type="subTitle" idx="1"/>
          </p:nvPr>
        </p:nvSpPr>
        <p:spPr/>
        <p:txBody>
          <a:bodyPr/>
          <a:lstStyle/>
          <a:p>
            <a:r>
              <a:rPr kumimoji="1" lang="ja-JP" altLang="en-US"/>
              <a:t>情報科学専攻</a:t>
            </a:r>
            <a:endParaRPr kumimoji="1" lang="en-US" altLang="ja-JP" dirty="0"/>
          </a:p>
          <a:p>
            <a:r>
              <a:rPr lang="ja-JP" altLang="en-US"/>
              <a:t>松野裕</a:t>
            </a:r>
            <a:endParaRPr lang="en-US" altLang="ja-JP" dirty="0"/>
          </a:p>
          <a:p>
            <a:r>
              <a:rPr kumimoji="1" lang="en-US" altLang="ja-JP" dirty="0">
                <a:hlinkClick r:id="rId2"/>
              </a:rPr>
              <a:t>matsuno.yutaka@nihon-u.ac.jp</a:t>
            </a:r>
            <a:endParaRPr kumimoji="1" lang="en-US" altLang="ja-JP" dirty="0"/>
          </a:p>
          <a:p>
            <a:endParaRPr kumimoji="1" lang="ja-JP" altLang="en-US"/>
          </a:p>
        </p:txBody>
      </p:sp>
    </p:spTree>
    <p:extLst>
      <p:ext uri="{BB962C8B-B14F-4D97-AF65-F5344CB8AC3E}">
        <p14:creationId xmlns:p14="http://schemas.microsoft.com/office/powerpoint/2010/main" val="1970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FC04A2-1DFA-09A7-4DDE-39CD5360D917}"/>
              </a:ext>
            </a:extLst>
          </p:cNvPr>
          <p:cNvSpPr>
            <a:spLocks noGrp="1"/>
          </p:cNvSpPr>
          <p:nvPr>
            <p:ph type="title"/>
          </p:nvPr>
        </p:nvSpPr>
        <p:spPr/>
        <p:txBody>
          <a:bodyPr/>
          <a:lstStyle/>
          <a:p>
            <a:r>
              <a:rPr kumimoji="1" lang="ja-JP" altLang="en-US"/>
              <a:t>この授業でやりたいこと</a:t>
            </a:r>
            <a:r>
              <a:rPr kumimoji="1" lang="en-US" altLang="ja-JP" dirty="0"/>
              <a:t>:</a:t>
            </a:r>
            <a:br>
              <a:rPr kumimoji="1" lang="en-US" altLang="ja-JP" dirty="0"/>
            </a:br>
            <a:r>
              <a:rPr kumimoji="1" lang="ja-JP" altLang="en-US"/>
              <a:t>生成</a:t>
            </a:r>
            <a:r>
              <a:rPr kumimoji="1" lang="en-US" altLang="ja-JP" dirty="0"/>
              <a:t>AI</a:t>
            </a:r>
            <a:r>
              <a:rPr kumimoji="1" lang="ja-JP" altLang="en-US"/>
              <a:t>ツールを色々使ってみる</a:t>
            </a:r>
          </a:p>
        </p:txBody>
      </p:sp>
      <p:sp>
        <p:nvSpPr>
          <p:cNvPr id="3" name="コンテンツ プレースホルダー 2">
            <a:extLst>
              <a:ext uri="{FF2B5EF4-FFF2-40B4-BE49-F238E27FC236}">
                <a16:creationId xmlns:a16="http://schemas.microsoft.com/office/drawing/2014/main" id="{BB36561E-C8DA-9497-4134-0356C6EC2666}"/>
              </a:ext>
            </a:extLst>
          </p:cNvPr>
          <p:cNvSpPr>
            <a:spLocks noGrp="1"/>
          </p:cNvSpPr>
          <p:nvPr>
            <p:ph idx="1"/>
          </p:nvPr>
        </p:nvSpPr>
        <p:spPr/>
        <p:txBody>
          <a:bodyPr/>
          <a:lstStyle/>
          <a:p>
            <a:r>
              <a:rPr kumimoji="1" lang="ja-JP" altLang="en-US"/>
              <a:t>生成</a:t>
            </a:r>
            <a:r>
              <a:rPr kumimoji="1" lang="en-US" altLang="ja-JP" dirty="0"/>
              <a:t>AI</a:t>
            </a:r>
            <a:r>
              <a:rPr kumimoji="1" lang="ja-JP" altLang="en-US"/>
              <a:t>ツールはどのように日々の生活に役立つか、共有する</a:t>
            </a:r>
            <a:endParaRPr kumimoji="1" lang="en-US" altLang="ja-JP" dirty="0"/>
          </a:p>
          <a:p>
            <a:r>
              <a:rPr lang="ja-JP" altLang="en-US"/>
              <a:t>どんどん出てくる生成</a:t>
            </a:r>
            <a:r>
              <a:rPr lang="en-US" altLang="ja-JP" dirty="0"/>
              <a:t>AI</a:t>
            </a:r>
            <a:r>
              <a:rPr lang="ja-JP" altLang="en-US"/>
              <a:t>ツールを実際に試してみて評価する</a:t>
            </a:r>
            <a:endParaRPr kumimoji="1" lang="en-US" altLang="ja-JP" dirty="0"/>
          </a:p>
          <a:p>
            <a:r>
              <a:rPr kumimoji="1" lang="ja-JP" altLang="en-US"/>
              <a:t>やってみたいこと</a:t>
            </a:r>
            <a:endParaRPr kumimoji="1" lang="en-US" altLang="ja-JP" dirty="0"/>
          </a:p>
          <a:p>
            <a:pPr lvl="1"/>
            <a:r>
              <a:rPr lang="ja-JP" altLang="en-US"/>
              <a:t>英語翻訳、</a:t>
            </a:r>
            <a:r>
              <a:rPr lang="ja-JP" altLang="en-US">
                <a:hlinkClick r:id="rId2"/>
              </a:rPr>
              <a:t>スライド作成</a:t>
            </a:r>
            <a:r>
              <a:rPr lang="ja-JP" altLang="en-US"/>
              <a:t>、</a:t>
            </a:r>
            <a:r>
              <a:rPr lang="ja-JP" altLang="en-US">
                <a:hlinkClick r:id="rId3"/>
              </a:rPr>
              <a:t>ホームページ作成</a:t>
            </a:r>
            <a:r>
              <a:rPr lang="ja-JP" altLang="en-US"/>
              <a:t>、</a:t>
            </a:r>
            <a:r>
              <a:rPr lang="ja-JP" altLang="en-US">
                <a:hlinkClick r:id="rId4"/>
              </a:rPr>
              <a:t>アプリ開発</a:t>
            </a:r>
            <a:r>
              <a:rPr lang="ja-JP" altLang="en-US"/>
              <a:t>、．．．</a:t>
            </a:r>
            <a:endParaRPr lang="en-US" altLang="ja-JP" dirty="0"/>
          </a:p>
          <a:p>
            <a:pPr lvl="1"/>
            <a:r>
              <a:rPr lang="ja-JP" altLang="en-US"/>
              <a:t>この授業はもともと、英語翻訳が主だったので、最初の数回は</a:t>
            </a:r>
            <a:br>
              <a:rPr lang="en-US" altLang="ja-JP" dirty="0"/>
            </a:br>
            <a:r>
              <a:rPr lang="ja-JP" altLang="en-US"/>
              <a:t>英語翻訳をします</a:t>
            </a:r>
            <a:endParaRPr kumimoji="1" lang="ja-JP" altLang="en-US"/>
          </a:p>
        </p:txBody>
      </p:sp>
    </p:spTree>
    <p:extLst>
      <p:ext uri="{BB962C8B-B14F-4D97-AF65-F5344CB8AC3E}">
        <p14:creationId xmlns:p14="http://schemas.microsoft.com/office/powerpoint/2010/main" val="2983169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6DDD4C-FCDA-1E98-FB82-CC70DD1BA0A5}"/>
              </a:ext>
            </a:extLst>
          </p:cNvPr>
          <p:cNvSpPr>
            <a:spLocks noGrp="1"/>
          </p:cNvSpPr>
          <p:nvPr>
            <p:ph type="title"/>
          </p:nvPr>
        </p:nvSpPr>
        <p:spPr/>
        <p:txBody>
          <a:bodyPr/>
          <a:lstStyle/>
          <a:p>
            <a:r>
              <a:rPr kumimoji="1" lang="ja-JP" altLang="en-US"/>
              <a:t>使うツール</a:t>
            </a:r>
          </a:p>
        </p:txBody>
      </p:sp>
      <p:sp>
        <p:nvSpPr>
          <p:cNvPr id="3" name="コンテンツ プレースホルダー 2">
            <a:extLst>
              <a:ext uri="{FF2B5EF4-FFF2-40B4-BE49-F238E27FC236}">
                <a16:creationId xmlns:a16="http://schemas.microsoft.com/office/drawing/2014/main" id="{8AAFD9DB-9B5D-3044-6608-A4B1C3C849E1}"/>
              </a:ext>
            </a:extLst>
          </p:cNvPr>
          <p:cNvSpPr>
            <a:spLocks noGrp="1"/>
          </p:cNvSpPr>
          <p:nvPr>
            <p:ph idx="1"/>
          </p:nvPr>
        </p:nvSpPr>
        <p:spPr/>
        <p:txBody>
          <a:bodyPr/>
          <a:lstStyle/>
          <a:p>
            <a:r>
              <a:rPr kumimoji="1" lang="en-US" altLang="ja-JP" dirty="0">
                <a:hlinkClick r:id="rId2"/>
              </a:rPr>
              <a:t>Miro</a:t>
            </a:r>
            <a:endParaRPr kumimoji="1" lang="en-US" altLang="ja-JP" dirty="0"/>
          </a:p>
          <a:p>
            <a:pPr lvl="1"/>
            <a:r>
              <a:rPr lang="ja-JP" altLang="en-US"/>
              <a:t>ホワイトボード</a:t>
            </a:r>
            <a:endParaRPr lang="en-US" altLang="ja-JP" dirty="0"/>
          </a:p>
          <a:p>
            <a:r>
              <a:rPr lang="en-US" altLang="ja-JP" dirty="0"/>
              <a:t>Google Class</a:t>
            </a:r>
          </a:p>
          <a:p>
            <a:pPr lvl="1"/>
            <a:r>
              <a:rPr lang="ja-JP" altLang="en-US"/>
              <a:t>クラスコード</a:t>
            </a:r>
            <a:r>
              <a:rPr lang="en-US" altLang="ja-JP" dirty="0"/>
              <a:t>: 3zgzvfh</a:t>
            </a:r>
          </a:p>
          <a:p>
            <a:r>
              <a:rPr kumimoji="1" lang="ja-JP" altLang="en-US"/>
              <a:t>無料の</a:t>
            </a:r>
            <a:r>
              <a:rPr kumimoji="1" lang="en-US" altLang="ja-JP" dirty="0"/>
              <a:t>AI</a:t>
            </a:r>
            <a:r>
              <a:rPr kumimoji="1" lang="ja-JP" altLang="en-US"/>
              <a:t>ツール（無料でもかなり使えるようになってきた）</a:t>
            </a:r>
            <a:endParaRPr kumimoji="1" lang="en-US" altLang="ja-JP" dirty="0"/>
          </a:p>
          <a:p>
            <a:pPr lvl="1"/>
            <a:r>
              <a:rPr lang="en-US" altLang="ja-JP" dirty="0" err="1"/>
              <a:t>DeepSeek</a:t>
            </a:r>
            <a:r>
              <a:rPr lang="en-US" altLang="ja-JP" dirty="0"/>
              <a:t>, Google AI Studio, …</a:t>
            </a:r>
          </a:p>
          <a:p>
            <a:r>
              <a:rPr kumimoji="1" lang="ja-JP" altLang="en-US"/>
              <a:t>有料の</a:t>
            </a:r>
            <a:r>
              <a:rPr kumimoji="1" lang="en-US" altLang="ja-JP" dirty="0"/>
              <a:t>ChatGPT API</a:t>
            </a:r>
            <a:r>
              <a:rPr kumimoji="1" lang="ja-JP" altLang="en-US"/>
              <a:t>などは、授業時間中に使えるようにするなどする予定</a:t>
            </a:r>
          </a:p>
        </p:txBody>
      </p:sp>
    </p:spTree>
    <p:extLst>
      <p:ext uri="{BB962C8B-B14F-4D97-AF65-F5344CB8AC3E}">
        <p14:creationId xmlns:p14="http://schemas.microsoft.com/office/powerpoint/2010/main" val="1056113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71C2C5-407E-A641-BF8A-F9C81EE32DC9}"/>
              </a:ext>
            </a:extLst>
          </p:cNvPr>
          <p:cNvSpPr>
            <a:spLocks noGrp="1"/>
          </p:cNvSpPr>
          <p:nvPr>
            <p:ph type="title"/>
          </p:nvPr>
        </p:nvSpPr>
        <p:spPr/>
        <p:txBody>
          <a:bodyPr/>
          <a:lstStyle/>
          <a:p>
            <a:r>
              <a:rPr kumimoji="1" lang="ja-JP" altLang="en-US"/>
              <a:t>教科書</a:t>
            </a:r>
            <a:r>
              <a:rPr kumimoji="1" lang="en-US" altLang="ja-JP" dirty="0"/>
              <a:t>(</a:t>
            </a:r>
            <a:r>
              <a:rPr lang="ja-JP" altLang="en-US"/>
              <a:t>買わなくてもいいようにします</a:t>
            </a:r>
            <a:r>
              <a:rPr kumimoji="1" lang="en-US" altLang="ja-JP" dirty="0"/>
              <a:t>)</a:t>
            </a:r>
            <a:endParaRPr kumimoji="1" lang="ja-JP" altLang="en-US"/>
          </a:p>
        </p:txBody>
      </p:sp>
      <p:pic>
        <p:nvPicPr>
          <p:cNvPr id="4" name="図 3">
            <a:extLst>
              <a:ext uri="{FF2B5EF4-FFF2-40B4-BE49-F238E27FC236}">
                <a16:creationId xmlns:a16="http://schemas.microsoft.com/office/drawing/2014/main" id="{1AF4B396-460D-604B-AEFE-A19BBD56200D}"/>
              </a:ext>
            </a:extLst>
          </p:cNvPr>
          <p:cNvPicPr>
            <a:picLocks noChangeAspect="1"/>
          </p:cNvPicPr>
          <p:nvPr/>
        </p:nvPicPr>
        <p:blipFill>
          <a:blip r:embed="rId2"/>
          <a:stretch>
            <a:fillRect/>
          </a:stretch>
        </p:blipFill>
        <p:spPr>
          <a:xfrm>
            <a:off x="4217773" y="1408956"/>
            <a:ext cx="3756454" cy="5335872"/>
          </a:xfrm>
          <a:prstGeom prst="rect">
            <a:avLst/>
          </a:prstGeom>
        </p:spPr>
      </p:pic>
    </p:spTree>
    <p:extLst>
      <p:ext uri="{BB962C8B-B14F-4D97-AF65-F5344CB8AC3E}">
        <p14:creationId xmlns:p14="http://schemas.microsoft.com/office/powerpoint/2010/main" val="3750541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6DB757-19A9-5C45-B3FB-B3514E969AAA}"/>
              </a:ext>
            </a:extLst>
          </p:cNvPr>
          <p:cNvSpPr>
            <a:spLocks noGrp="1"/>
          </p:cNvSpPr>
          <p:nvPr>
            <p:ph type="title"/>
          </p:nvPr>
        </p:nvSpPr>
        <p:spPr/>
        <p:txBody>
          <a:bodyPr/>
          <a:lstStyle/>
          <a:p>
            <a:r>
              <a:rPr kumimoji="1" lang="ja-JP" altLang="en-US"/>
              <a:t>授業の予定</a:t>
            </a:r>
            <a:r>
              <a:rPr kumimoji="1" lang="en-US" altLang="ja-JP" dirty="0"/>
              <a:t>(</a:t>
            </a:r>
            <a:r>
              <a:rPr kumimoji="1" lang="ja-JP" altLang="en-US"/>
              <a:t>最初の数回</a:t>
            </a:r>
            <a:r>
              <a:rPr kumimoji="1" lang="en-US" altLang="ja-JP" dirty="0"/>
              <a:t>)</a:t>
            </a:r>
            <a:endParaRPr kumimoji="1" lang="ja-JP" altLang="en-US"/>
          </a:p>
        </p:txBody>
      </p:sp>
      <p:sp>
        <p:nvSpPr>
          <p:cNvPr id="3" name="コンテンツ プレースホルダー 2">
            <a:extLst>
              <a:ext uri="{FF2B5EF4-FFF2-40B4-BE49-F238E27FC236}">
                <a16:creationId xmlns:a16="http://schemas.microsoft.com/office/drawing/2014/main" id="{3A682A76-A3B0-F342-8928-91E7BE2BAA7E}"/>
              </a:ext>
            </a:extLst>
          </p:cNvPr>
          <p:cNvSpPr>
            <a:spLocks noGrp="1"/>
          </p:cNvSpPr>
          <p:nvPr>
            <p:ph idx="1"/>
          </p:nvPr>
        </p:nvSpPr>
        <p:spPr/>
        <p:txBody>
          <a:bodyPr/>
          <a:lstStyle/>
          <a:p>
            <a:r>
              <a:rPr kumimoji="1" lang="ja-JP" altLang="en-US"/>
              <a:t>毎回、演習と講評、ディスカッションをする</a:t>
            </a:r>
            <a:endParaRPr kumimoji="1" lang="en-US" altLang="ja-JP" dirty="0"/>
          </a:p>
          <a:p>
            <a:r>
              <a:rPr kumimoji="1" lang="ja-JP" altLang="en-US"/>
              <a:t>数回、まとまった文章の英訳の課題を出す予定</a:t>
            </a:r>
            <a:endParaRPr kumimoji="1" lang="en-US" altLang="ja-JP" dirty="0"/>
          </a:p>
          <a:p>
            <a:pPr lvl="1"/>
            <a:r>
              <a:rPr lang="ja-JP" altLang="en-US"/>
              <a:t>英語論文を書く予定があれば、その提出で</a:t>
            </a:r>
            <a:r>
              <a:rPr lang="en-US" altLang="ja-JP" dirty="0"/>
              <a:t>OK</a:t>
            </a:r>
          </a:p>
          <a:p>
            <a:pPr lvl="2"/>
            <a:r>
              <a:rPr lang="ja-JP" altLang="en-US"/>
              <a:t>添削したり、参加者でディスカッションします</a:t>
            </a:r>
            <a:endParaRPr lang="en-US" altLang="ja-JP" dirty="0"/>
          </a:p>
          <a:p>
            <a:pPr lvl="1"/>
            <a:r>
              <a:rPr kumimoji="1" lang="ja-JP" altLang="en-US"/>
              <a:t>過去に書いた日本語論文の英訳でも</a:t>
            </a:r>
            <a:r>
              <a:rPr kumimoji="1" lang="en-US" altLang="ja-JP" dirty="0"/>
              <a:t>OK</a:t>
            </a:r>
          </a:p>
          <a:p>
            <a:r>
              <a:rPr kumimoji="1" lang="ja-JP" altLang="en-US"/>
              <a:t>「技術英語ライティングの基本」にそって授業を進める</a:t>
            </a:r>
          </a:p>
        </p:txBody>
      </p:sp>
    </p:spTree>
    <p:extLst>
      <p:ext uri="{BB962C8B-B14F-4D97-AF65-F5344CB8AC3E}">
        <p14:creationId xmlns:p14="http://schemas.microsoft.com/office/powerpoint/2010/main" val="863838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2ACA05-42D5-C644-93E1-07EDFAB57B47}"/>
              </a:ext>
            </a:extLst>
          </p:cNvPr>
          <p:cNvSpPr>
            <a:spLocks noGrp="1"/>
          </p:cNvSpPr>
          <p:nvPr>
            <p:ph type="title"/>
          </p:nvPr>
        </p:nvSpPr>
        <p:spPr/>
        <p:txBody>
          <a:bodyPr>
            <a:normAutofit/>
          </a:bodyPr>
          <a:lstStyle/>
          <a:p>
            <a:r>
              <a:rPr kumimoji="1" lang="ja-JP" altLang="en-US"/>
              <a:t>早速問題　以下を英訳せよ</a:t>
            </a:r>
            <a:r>
              <a:rPr kumimoji="1" lang="en-US" altLang="ja-JP" dirty="0"/>
              <a:t>(</a:t>
            </a:r>
            <a:r>
              <a:rPr lang="en-US" altLang="ja-JP" dirty="0" err="1"/>
              <a:t>ChatGPT</a:t>
            </a:r>
            <a:r>
              <a:rPr lang="en-US" altLang="ja-JP" dirty="0"/>
              <a:t>, Claude</a:t>
            </a:r>
            <a:r>
              <a:rPr lang="ja-JP" altLang="en-US"/>
              <a:t>など</a:t>
            </a:r>
            <a:r>
              <a:rPr kumimoji="1" lang="ja-JP" altLang="en-US"/>
              <a:t>はとりあえず使わないこと</a:t>
            </a:r>
            <a:r>
              <a:rPr kumimoji="1" lang="en-US" altLang="ja-JP" dirty="0"/>
              <a:t>)</a:t>
            </a:r>
            <a:endParaRPr kumimoji="1" lang="ja-JP" altLang="en-US"/>
          </a:p>
        </p:txBody>
      </p:sp>
      <p:sp>
        <p:nvSpPr>
          <p:cNvPr id="3" name="コンテンツ プレースホルダー 2">
            <a:extLst>
              <a:ext uri="{FF2B5EF4-FFF2-40B4-BE49-F238E27FC236}">
                <a16:creationId xmlns:a16="http://schemas.microsoft.com/office/drawing/2014/main" id="{AD022A27-BA23-B848-B3C3-04D3E32F4BDC}"/>
              </a:ext>
            </a:extLst>
          </p:cNvPr>
          <p:cNvSpPr>
            <a:spLocks noGrp="1"/>
          </p:cNvSpPr>
          <p:nvPr>
            <p:ph idx="1"/>
          </p:nvPr>
        </p:nvSpPr>
        <p:spPr/>
        <p:txBody>
          <a:bodyPr/>
          <a:lstStyle/>
          <a:p>
            <a:r>
              <a:rPr kumimoji="1" lang="ja-JP" altLang="en-US"/>
              <a:t>この理論はこの場合に当てはめられないというのが結論になります</a:t>
            </a:r>
            <a:endParaRPr lang="en-US" altLang="ja-JP" dirty="0"/>
          </a:p>
          <a:p>
            <a:r>
              <a:rPr kumimoji="1" lang="en-US" altLang="ja-JP" dirty="0"/>
              <a:t>Miro</a:t>
            </a:r>
            <a:r>
              <a:rPr kumimoji="1" lang="ja-JP" altLang="en-US"/>
              <a:t>に書いてみよう</a:t>
            </a:r>
            <a:r>
              <a:rPr kumimoji="1" lang="en-US" altLang="ja-JP" dirty="0"/>
              <a:t>!</a:t>
            </a:r>
          </a:p>
        </p:txBody>
      </p:sp>
    </p:spTree>
    <p:extLst>
      <p:ext uri="{BB962C8B-B14F-4D97-AF65-F5344CB8AC3E}">
        <p14:creationId xmlns:p14="http://schemas.microsoft.com/office/powerpoint/2010/main" val="4146398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2ACA05-42D5-C644-93E1-07EDFAB57B47}"/>
              </a:ext>
            </a:extLst>
          </p:cNvPr>
          <p:cNvSpPr>
            <a:spLocks noGrp="1"/>
          </p:cNvSpPr>
          <p:nvPr>
            <p:ph type="title"/>
          </p:nvPr>
        </p:nvSpPr>
        <p:spPr/>
        <p:txBody>
          <a:bodyPr>
            <a:normAutofit/>
          </a:bodyPr>
          <a:lstStyle/>
          <a:p>
            <a:r>
              <a:rPr kumimoji="1" lang="ja-JP" altLang="en-US"/>
              <a:t>早速問題　以下を英訳せよ</a:t>
            </a:r>
            <a:r>
              <a:rPr kumimoji="1" lang="en-US" altLang="ja-JP" dirty="0"/>
              <a:t>(</a:t>
            </a:r>
            <a:r>
              <a:rPr lang="en-US" altLang="ja-JP" dirty="0" err="1"/>
              <a:t>ChatGPT</a:t>
            </a:r>
            <a:r>
              <a:rPr lang="en-US" altLang="ja-JP" dirty="0"/>
              <a:t>, Claude</a:t>
            </a:r>
            <a:r>
              <a:rPr lang="ja-JP" altLang="en-US"/>
              <a:t>など</a:t>
            </a:r>
            <a:r>
              <a:rPr kumimoji="1" lang="ja-JP" altLang="en-US"/>
              <a:t>はとりあえず使わないこと</a:t>
            </a:r>
            <a:r>
              <a:rPr kumimoji="1" lang="en-US" altLang="ja-JP" dirty="0"/>
              <a:t>)</a:t>
            </a:r>
            <a:endParaRPr kumimoji="1" lang="ja-JP" altLang="en-US"/>
          </a:p>
        </p:txBody>
      </p:sp>
      <p:sp>
        <p:nvSpPr>
          <p:cNvPr id="3" name="コンテンツ プレースホルダー 2">
            <a:extLst>
              <a:ext uri="{FF2B5EF4-FFF2-40B4-BE49-F238E27FC236}">
                <a16:creationId xmlns:a16="http://schemas.microsoft.com/office/drawing/2014/main" id="{AD022A27-BA23-B848-B3C3-04D3E32F4BDC}"/>
              </a:ext>
            </a:extLst>
          </p:cNvPr>
          <p:cNvSpPr>
            <a:spLocks noGrp="1"/>
          </p:cNvSpPr>
          <p:nvPr>
            <p:ph idx="1"/>
          </p:nvPr>
        </p:nvSpPr>
        <p:spPr/>
        <p:txBody>
          <a:bodyPr/>
          <a:lstStyle/>
          <a:p>
            <a:r>
              <a:rPr kumimoji="1" lang="ja-JP" altLang="en-US"/>
              <a:t>この理論はこの場合に当てはめられないというのが結論になります</a:t>
            </a:r>
            <a:endParaRPr lang="en-US" altLang="ja-JP" dirty="0"/>
          </a:p>
          <a:p>
            <a:pPr marL="0" indent="0">
              <a:buNone/>
            </a:pPr>
            <a:endParaRPr lang="en-US" altLang="ja-JP" dirty="0"/>
          </a:p>
          <a:p>
            <a:r>
              <a:rPr lang="en-US" altLang="ja-JP" dirty="0"/>
              <a:t>It becomes conclusion that you cannot be applied the theory in this case</a:t>
            </a:r>
          </a:p>
          <a:p>
            <a:pPr lvl="1"/>
            <a:r>
              <a:rPr lang="ja-JP" altLang="en-US"/>
              <a:t>日本語にするとおかしな日本語になる</a:t>
            </a:r>
            <a:endParaRPr lang="en-US" altLang="ja-JP" dirty="0"/>
          </a:p>
          <a:p>
            <a:pPr lvl="2"/>
            <a:r>
              <a:rPr lang="ja-JP" altLang="en-US"/>
              <a:t>あなたが、当てはめることができない、理論、この場合</a:t>
            </a:r>
            <a:endParaRPr lang="en-US" altLang="ja-JP" dirty="0"/>
          </a:p>
          <a:p>
            <a:r>
              <a:rPr lang="en-US" altLang="ja-JP" dirty="0"/>
              <a:t>In conclusion, you cannot apply this theory to this case.</a:t>
            </a:r>
          </a:p>
          <a:p>
            <a:r>
              <a:rPr lang="en-US" altLang="ja-JP" dirty="0"/>
              <a:t>Therefore, the theory is not applicable in this case.</a:t>
            </a:r>
          </a:p>
          <a:p>
            <a:endParaRPr lang="en-US" altLang="ja-JP" dirty="0"/>
          </a:p>
          <a:p>
            <a:endParaRPr kumimoji="1" lang="en-US" altLang="ja-JP" dirty="0"/>
          </a:p>
        </p:txBody>
      </p:sp>
    </p:spTree>
    <p:extLst>
      <p:ext uri="{BB962C8B-B14F-4D97-AF65-F5344CB8AC3E}">
        <p14:creationId xmlns:p14="http://schemas.microsoft.com/office/powerpoint/2010/main" val="615109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EAAF92-63F5-7F49-8594-677EF43659E1}"/>
              </a:ext>
            </a:extLst>
          </p:cNvPr>
          <p:cNvSpPr>
            <a:spLocks noGrp="1"/>
          </p:cNvSpPr>
          <p:nvPr>
            <p:ph type="title"/>
          </p:nvPr>
        </p:nvSpPr>
        <p:spPr/>
        <p:txBody>
          <a:bodyPr/>
          <a:lstStyle/>
          <a:p>
            <a:r>
              <a:rPr lang="ja-JP" altLang="en-US"/>
              <a:t>生成</a:t>
            </a:r>
            <a:r>
              <a:rPr lang="en-US" altLang="ja-JP" dirty="0"/>
              <a:t>AI</a:t>
            </a:r>
            <a:r>
              <a:rPr lang="ja-JP" altLang="en-US"/>
              <a:t>ツール</a:t>
            </a:r>
            <a:r>
              <a:rPr kumimoji="1" lang="ja-JP" altLang="en-US"/>
              <a:t>を使って英語論文を書こう</a:t>
            </a:r>
          </a:p>
        </p:txBody>
      </p:sp>
      <p:sp>
        <p:nvSpPr>
          <p:cNvPr id="3" name="コンテンツ プレースホルダー 2">
            <a:extLst>
              <a:ext uri="{FF2B5EF4-FFF2-40B4-BE49-F238E27FC236}">
                <a16:creationId xmlns:a16="http://schemas.microsoft.com/office/drawing/2014/main" id="{5B64CD3A-98C0-324C-ABE1-4D29F2B41EE3}"/>
              </a:ext>
            </a:extLst>
          </p:cNvPr>
          <p:cNvSpPr>
            <a:spLocks noGrp="1"/>
          </p:cNvSpPr>
          <p:nvPr>
            <p:ph idx="1"/>
          </p:nvPr>
        </p:nvSpPr>
        <p:spPr/>
        <p:txBody>
          <a:bodyPr>
            <a:normAutofit fontScale="85000" lnSpcReduction="20000"/>
          </a:bodyPr>
          <a:lstStyle/>
          <a:p>
            <a:r>
              <a:rPr kumimoji="1" lang="ja-JP" altLang="en-US"/>
              <a:t>英語の書き方</a:t>
            </a:r>
            <a:r>
              <a:rPr kumimoji="1" lang="en-US" altLang="ja-JP" dirty="0"/>
              <a:t>0</a:t>
            </a:r>
          </a:p>
          <a:p>
            <a:pPr lvl="1"/>
            <a:r>
              <a:rPr lang="ja-JP" altLang="en-US"/>
              <a:t>日本語で書く</a:t>
            </a:r>
            <a:endParaRPr lang="en-US" altLang="ja-JP" dirty="0"/>
          </a:p>
          <a:p>
            <a:pPr lvl="1"/>
            <a:r>
              <a:rPr lang="ja-JP" altLang="en-US"/>
              <a:t>生成</a:t>
            </a:r>
            <a:r>
              <a:rPr lang="en-US" altLang="ja-JP" dirty="0"/>
              <a:t>AI</a:t>
            </a:r>
            <a:r>
              <a:rPr lang="ja-JP" altLang="en-US"/>
              <a:t>ツールで英語にする</a:t>
            </a:r>
            <a:endParaRPr lang="en-US" altLang="ja-JP" dirty="0"/>
          </a:p>
          <a:p>
            <a:pPr lvl="1"/>
            <a:r>
              <a:rPr kumimoji="1" lang="ja-JP" altLang="en-US"/>
              <a:t>不自然だと思う箇所を直す</a:t>
            </a:r>
            <a:endParaRPr kumimoji="1" lang="en-US" altLang="ja-JP" dirty="0"/>
          </a:p>
          <a:p>
            <a:r>
              <a:rPr kumimoji="1" lang="ja-JP" altLang="en-US"/>
              <a:t>英語の書き方１</a:t>
            </a:r>
            <a:r>
              <a:rPr kumimoji="1" lang="en-US" altLang="ja-JP" dirty="0"/>
              <a:t>(</a:t>
            </a:r>
            <a:r>
              <a:rPr kumimoji="1" lang="ja-JP" altLang="en-US"/>
              <a:t>英語教育の観点からはベスト</a:t>
            </a:r>
            <a:r>
              <a:rPr kumimoji="1" lang="en-US" altLang="ja-JP" dirty="0"/>
              <a:t>)</a:t>
            </a:r>
          </a:p>
          <a:p>
            <a:pPr lvl="1"/>
            <a:r>
              <a:rPr lang="ja-JP" altLang="en-US"/>
              <a:t>英語で書く</a:t>
            </a:r>
            <a:endParaRPr lang="en-US" altLang="ja-JP" dirty="0"/>
          </a:p>
          <a:p>
            <a:pPr lvl="1"/>
            <a:r>
              <a:rPr kumimoji="1" lang="ja-JP" altLang="en-US"/>
              <a:t>生成</a:t>
            </a:r>
            <a:r>
              <a:rPr kumimoji="1" lang="en-US" altLang="ja-JP" dirty="0"/>
              <a:t>AI</a:t>
            </a:r>
            <a:r>
              <a:rPr kumimoji="1" lang="ja-JP" altLang="en-US"/>
              <a:t>ツールで日本語にする</a:t>
            </a:r>
            <a:endParaRPr kumimoji="1" lang="en-US" altLang="ja-JP" dirty="0"/>
          </a:p>
          <a:p>
            <a:pPr lvl="1"/>
            <a:r>
              <a:rPr lang="ja-JP" altLang="en-US"/>
              <a:t>日本語が不自然な英語の箇所を直す</a:t>
            </a:r>
            <a:endParaRPr lang="en-US" altLang="ja-JP" dirty="0"/>
          </a:p>
          <a:p>
            <a:r>
              <a:rPr lang="ja-JP" altLang="en-US"/>
              <a:t>英語の書き方</a:t>
            </a:r>
            <a:r>
              <a:rPr lang="en-US" altLang="ja-JP" dirty="0"/>
              <a:t>2</a:t>
            </a:r>
            <a:r>
              <a:rPr lang="ja-JP" altLang="en-US"/>
              <a:t>（こっちでよくなる</a:t>
            </a:r>
            <a:r>
              <a:rPr lang="en-US" altLang="ja-JP" dirty="0"/>
              <a:t>?</a:t>
            </a:r>
            <a:r>
              <a:rPr lang="ja-JP" altLang="en-US"/>
              <a:t>）</a:t>
            </a:r>
            <a:endParaRPr lang="en-US" altLang="ja-JP" dirty="0"/>
          </a:p>
          <a:p>
            <a:pPr lvl="1"/>
            <a:r>
              <a:rPr kumimoji="1" lang="ja-JP" altLang="en-US"/>
              <a:t>日本語で書く</a:t>
            </a:r>
            <a:endParaRPr kumimoji="1" lang="en-US" altLang="ja-JP" dirty="0"/>
          </a:p>
          <a:p>
            <a:pPr lvl="1"/>
            <a:r>
              <a:rPr kumimoji="1" lang="ja-JP" altLang="en-US"/>
              <a:t>生成</a:t>
            </a:r>
            <a:r>
              <a:rPr kumimoji="1" lang="en-US" altLang="ja-JP" dirty="0"/>
              <a:t>AI</a:t>
            </a:r>
            <a:r>
              <a:rPr kumimoji="1" lang="ja-JP" altLang="en-US"/>
              <a:t>ツールで英語にする</a:t>
            </a:r>
            <a:endParaRPr kumimoji="1" lang="en-US" altLang="ja-JP" dirty="0"/>
          </a:p>
          <a:p>
            <a:pPr lvl="1"/>
            <a:r>
              <a:rPr lang="ja-JP" altLang="en-US"/>
              <a:t>出力を他の複数の生成</a:t>
            </a:r>
            <a:r>
              <a:rPr lang="en-US" altLang="ja-JP" dirty="0"/>
              <a:t>AI</a:t>
            </a:r>
            <a:r>
              <a:rPr lang="ja-JP" altLang="en-US"/>
              <a:t>ツールで評価する</a:t>
            </a:r>
            <a:endParaRPr lang="en-US" altLang="ja-JP" dirty="0"/>
          </a:p>
          <a:p>
            <a:pPr lvl="2"/>
            <a:r>
              <a:rPr kumimoji="1" lang="ja-JP" altLang="en-US"/>
              <a:t>現状だと、松野の使い方だと、大袈裟な表現や繰り返しや、その分野では使わない英語が出てくるので、人手による手直しが必要</a:t>
            </a:r>
          </a:p>
        </p:txBody>
      </p:sp>
    </p:spTree>
    <p:extLst>
      <p:ext uri="{BB962C8B-B14F-4D97-AF65-F5344CB8AC3E}">
        <p14:creationId xmlns:p14="http://schemas.microsoft.com/office/powerpoint/2010/main" val="2876609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FA274D-C7FF-0D49-8023-906340A43E9B}"/>
              </a:ext>
            </a:extLst>
          </p:cNvPr>
          <p:cNvSpPr>
            <a:spLocks noGrp="1"/>
          </p:cNvSpPr>
          <p:nvPr>
            <p:ph type="title"/>
          </p:nvPr>
        </p:nvSpPr>
        <p:spPr/>
        <p:txBody>
          <a:bodyPr/>
          <a:lstStyle/>
          <a:p>
            <a:r>
              <a:rPr kumimoji="1" lang="ja-JP" altLang="en-US"/>
              <a:t>技術英語ライティングの基本</a:t>
            </a:r>
          </a:p>
        </p:txBody>
      </p:sp>
      <p:sp>
        <p:nvSpPr>
          <p:cNvPr id="4" name="コンテンツ プレースホルダー 3">
            <a:extLst>
              <a:ext uri="{FF2B5EF4-FFF2-40B4-BE49-F238E27FC236}">
                <a16:creationId xmlns:a16="http://schemas.microsoft.com/office/drawing/2014/main" id="{40AE2638-60D5-BD45-8FFE-B43770B9D271}"/>
              </a:ext>
            </a:extLst>
          </p:cNvPr>
          <p:cNvSpPr>
            <a:spLocks noGrp="1"/>
          </p:cNvSpPr>
          <p:nvPr>
            <p:ph sz="half" idx="1"/>
          </p:nvPr>
        </p:nvSpPr>
        <p:spPr/>
        <p:txBody>
          <a:bodyPr/>
          <a:lstStyle/>
          <a:p>
            <a:r>
              <a:rPr lang="ja-JP" altLang="en-US"/>
              <a:t>第</a:t>
            </a:r>
            <a:r>
              <a:rPr lang="en-US" altLang="ja-JP" dirty="0"/>
              <a:t>1</a:t>
            </a:r>
            <a:r>
              <a:rPr lang="ja-JP" altLang="en-US"/>
              <a:t>部</a:t>
            </a:r>
            <a:endParaRPr lang="en-US" altLang="ja-JP" dirty="0"/>
          </a:p>
          <a:p>
            <a:pPr lvl="1"/>
            <a:r>
              <a:rPr lang="ja-JP" altLang="en-US">
                <a:solidFill>
                  <a:srgbClr val="FF0000"/>
                </a:solidFill>
              </a:rPr>
              <a:t>すっきり最小主義</a:t>
            </a:r>
            <a:endParaRPr lang="en-US" altLang="ja-JP" dirty="0">
              <a:solidFill>
                <a:srgbClr val="FF0000"/>
              </a:solidFill>
            </a:endParaRPr>
          </a:p>
          <a:p>
            <a:pPr lvl="1"/>
            <a:r>
              <a:rPr lang="ja-JP" altLang="en-US"/>
              <a:t>まずは具体化主義</a:t>
            </a:r>
            <a:endParaRPr lang="en-US" altLang="ja-JP" dirty="0"/>
          </a:p>
          <a:p>
            <a:pPr lvl="1"/>
            <a:r>
              <a:rPr lang="ja-JP" altLang="en-US"/>
              <a:t>とことん動詞主義</a:t>
            </a:r>
            <a:endParaRPr lang="en-US" altLang="ja-JP" dirty="0"/>
          </a:p>
          <a:p>
            <a:pPr lvl="1"/>
            <a:r>
              <a:rPr lang="ja-JP" altLang="en-US"/>
              <a:t>まっすぐ能動態主義</a:t>
            </a:r>
            <a:endParaRPr lang="en-US" altLang="ja-JP" dirty="0"/>
          </a:p>
        </p:txBody>
      </p:sp>
      <p:sp>
        <p:nvSpPr>
          <p:cNvPr id="5" name="コンテンツ プレースホルダー 4">
            <a:extLst>
              <a:ext uri="{FF2B5EF4-FFF2-40B4-BE49-F238E27FC236}">
                <a16:creationId xmlns:a16="http://schemas.microsoft.com/office/drawing/2014/main" id="{751C3873-55E2-3340-B0E7-0400BF66716D}"/>
              </a:ext>
            </a:extLst>
          </p:cNvPr>
          <p:cNvSpPr>
            <a:spLocks noGrp="1"/>
          </p:cNvSpPr>
          <p:nvPr>
            <p:ph sz="half" idx="2"/>
          </p:nvPr>
        </p:nvSpPr>
        <p:spPr/>
        <p:txBody>
          <a:bodyPr/>
          <a:lstStyle/>
          <a:p>
            <a:r>
              <a:rPr lang="ja-JP" altLang="en-US"/>
              <a:t>第２部</a:t>
            </a:r>
            <a:br>
              <a:rPr lang="en-US" altLang="ja-JP" dirty="0"/>
            </a:br>
            <a:r>
              <a:rPr lang="ja-JP" altLang="en-US"/>
              <a:t>これならわかる英文法</a:t>
            </a:r>
            <a:endParaRPr lang="en-US" altLang="ja-JP" dirty="0"/>
          </a:p>
          <a:p>
            <a:r>
              <a:rPr lang="ja-JP" altLang="en-US"/>
              <a:t>第３部</a:t>
            </a:r>
            <a:br>
              <a:rPr lang="en-US" altLang="ja-JP" dirty="0"/>
            </a:br>
            <a:r>
              <a:rPr lang="ja-JP" altLang="en-US"/>
              <a:t>これですっきり数字と記号</a:t>
            </a:r>
          </a:p>
        </p:txBody>
      </p:sp>
    </p:spTree>
    <p:extLst>
      <p:ext uri="{BB962C8B-B14F-4D97-AF65-F5344CB8AC3E}">
        <p14:creationId xmlns:p14="http://schemas.microsoft.com/office/powerpoint/2010/main" val="1066377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DFB0BFE4-2B68-A542-92D4-27DF213BF1FB}"/>
              </a:ext>
            </a:extLst>
          </p:cNvPr>
          <p:cNvSpPr>
            <a:spLocks noGrp="1"/>
          </p:cNvSpPr>
          <p:nvPr>
            <p:ph type="title"/>
          </p:nvPr>
        </p:nvSpPr>
        <p:spPr/>
        <p:txBody>
          <a:bodyPr/>
          <a:lstStyle/>
          <a:p>
            <a:r>
              <a:rPr lang="ja-JP" altLang="en-US"/>
              <a:t>すっきり最小主義</a:t>
            </a:r>
          </a:p>
        </p:txBody>
      </p:sp>
      <p:sp>
        <p:nvSpPr>
          <p:cNvPr id="6" name="コンテンツ プレースホルダー 5">
            <a:extLst>
              <a:ext uri="{FF2B5EF4-FFF2-40B4-BE49-F238E27FC236}">
                <a16:creationId xmlns:a16="http://schemas.microsoft.com/office/drawing/2014/main" id="{45C21E0B-5A58-5A49-9B63-F6FCCF27D287}"/>
              </a:ext>
            </a:extLst>
          </p:cNvPr>
          <p:cNvSpPr>
            <a:spLocks noGrp="1"/>
          </p:cNvSpPr>
          <p:nvPr>
            <p:ph idx="1"/>
          </p:nvPr>
        </p:nvSpPr>
        <p:spPr/>
        <p:txBody>
          <a:bodyPr/>
          <a:lstStyle/>
          <a:p>
            <a:r>
              <a:rPr lang="ja-JP" altLang="en-US"/>
              <a:t>以下の日本語を英語にしてみよう</a:t>
            </a:r>
            <a:endParaRPr lang="en-US" altLang="ja-JP" dirty="0"/>
          </a:p>
          <a:p>
            <a:pPr lvl="1"/>
            <a:r>
              <a:rPr lang="ja-JP" altLang="en-US"/>
              <a:t>５つの新機能が追加されています</a:t>
            </a:r>
            <a:endParaRPr lang="en-US" altLang="ja-JP" dirty="0"/>
          </a:p>
          <a:p>
            <a:pPr lvl="1"/>
            <a:endParaRPr lang="ja-JP" altLang="en-US"/>
          </a:p>
        </p:txBody>
      </p:sp>
    </p:spTree>
    <p:extLst>
      <p:ext uri="{BB962C8B-B14F-4D97-AF65-F5344CB8AC3E}">
        <p14:creationId xmlns:p14="http://schemas.microsoft.com/office/powerpoint/2010/main" val="2947721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C662D1-1069-A24E-8B92-7C322DF8C8D7}"/>
              </a:ext>
            </a:extLst>
          </p:cNvPr>
          <p:cNvSpPr>
            <a:spLocks noGrp="1"/>
          </p:cNvSpPr>
          <p:nvPr>
            <p:ph type="title"/>
          </p:nvPr>
        </p:nvSpPr>
        <p:spPr/>
        <p:txBody>
          <a:bodyPr/>
          <a:lstStyle/>
          <a:p>
            <a:r>
              <a:rPr kumimoji="1" lang="ja-JP" altLang="en-US"/>
              <a:t>解答例</a:t>
            </a:r>
          </a:p>
        </p:txBody>
      </p:sp>
      <p:sp>
        <p:nvSpPr>
          <p:cNvPr id="3" name="コンテンツ プレースホルダー 2">
            <a:extLst>
              <a:ext uri="{FF2B5EF4-FFF2-40B4-BE49-F238E27FC236}">
                <a16:creationId xmlns:a16="http://schemas.microsoft.com/office/drawing/2014/main" id="{75769BF1-CA2F-D847-BE77-70A69C4645F5}"/>
              </a:ext>
            </a:extLst>
          </p:cNvPr>
          <p:cNvSpPr>
            <a:spLocks noGrp="1"/>
          </p:cNvSpPr>
          <p:nvPr>
            <p:ph idx="1"/>
          </p:nvPr>
        </p:nvSpPr>
        <p:spPr/>
        <p:txBody>
          <a:bodyPr/>
          <a:lstStyle/>
          <a:p>
            <a:r>
              <a:rPr kumimoji="1" lang="en-US" altLang="ja-JP" dirty="0"/>
              <a:t>Five new functions are added</a:t>
            </a:r>
            <a:r>
              <a:rPr kumimoji="1" lang="ja-JP" altLang="en-US"/>
              <a:t>　☓</a:t>
            </a:r>
            <a:endParaRPr kumimoji="1" lang="en-US" altLang="ja-JP" dirty="0"/>
          </a:p>
          <a:p>
            <a:pPr lvl="1"/>
            <a:r>
              <a:rPr kumimoji="1" lang="ja-JP" altLang="en-US"/>
              <a:t>「追加されます」になってしまう</a:t>
            </a:r>
            <a:endParaRPr kumimoji="1" lang="en-US" altLang="ja-JP" dirty="0"/>
          </a:p>
          <a:p>
            <a:r>
              <a:rPr kumimoji="1" lang="en-US" altLang="ja-JP" dirty="0"/>
              <a:t>Five new functions have been added</a:t>
            </a:r>
            <a:r>
              <a:rPr kumimoji="1" lang="ja-JP" altLang="en-US"/>
              <a:t>　△</a:t>
            </a:r>
            <a:endParaRPr kumimoji="1" lang="en-US" altLang="ja-JP" dirty="0"/>
          </a:p>
          <a:p>
            <a:pPr lvl="1"/>
            <a:r>
              <a:rPr kumimoji="1" lang="ja-JP" altLang="en-US"/>
              <a:t>追加済みというニュアンスを出すために現在完了形を使う</a:t>
            </a:r>
            <a:endParaRPr kumimoji="1" lang="en-US" altLang="ja-JP" dirty="0"/>
          </a:p>
          <a:p>
            <a:r>
              <a:rPr lang="en-US" altLang="ja-JP" dirty="0"/>
              <a:t>There are five new functions</a:t>
            </a:r>
            <a:r>
              <a:rPr lang="ja-JP" altLang="en-US"/>
              <a:t>　○</a:t>
            </a:r>
            <a:endParaRPr lang="en-US" altLang="ja-JP" dirty="0"/>
          </a:p>
          <a:p>
            <a:pPr lvl="1"/>
            <a:r>
              <a:rPr lang="ja-JP" altLang="en-US"/>
              <a:t>新しい機能なのだから、追加するのは当たり前。なので追加済みというニュアンスを出す必要はない</a:t>
            </a:r>
            <a:endParaRPr kumimoji="1" lang="ja-JP" altLang="en-US"/>
          </a:p>
        </p:txBody>
      </p:sp>
      <p:sp>
        <p:nvSpPr>
          <p:cNvPr id="4" name="正方形/長方形 3">
            <a:extLst>
              <a:ext uri="{FF2B5EF4-FFF2-40B4-BE49-F238E27FC236}">
                <a16:creationId xmlns:a16="http://schemas.microsoft.com/office/drawing/2014/main" id="{110D21E5-F6DD-EC47-99F3-24CEE7C88ABF}"/>
              </a:ext>
            </a:extLst>
          </p:cNvPr>
          <p:cNvSpPr/>
          <p:nvPr/>
        </p:nvSpPr>
        <p:spPr>
          <a:xfrm>
            <a:off x="2037521" y="5061640"/>
            <a:ext cx="8116957" cy="15107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3600"/>
              <a:t>・日本語にムダな部分がないか考える</a:t>
            </a:r>
            <a:endParaRPr kumimoji="1" lang="en-US" altLang="ja-JP" sz="3600" dirty="0"/>
          </a:p>
          <a:p>
            <a:r>
              <a:rPr lang="ja-JP" altLang="en-US" sz="3600"/>
              <a:t>・必要なところだけ英語にする</a:t>
            </a:r>
            <a:endParaRPr kumimoji="1" lang="ja-JP" altLang="en-US" sz="3600"/>
          </a:p>
        </p:txBody>
      </p:sp>
    </p:spTree>
    <p:extLst>
      <p:ext uri="{BB962C8B-B14F-4D97-AF65-F5344CB8AC3E}">
        <p14:creationId xmlns:p14="http://schemas.microsoft.com/office/powerpoint/2010/main" val="2936528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029AE1-8B18-864B-8654-F9F037E11F07}"/>
              </a:ext>
            </a:extLst>
          </p:cNvPr>
          <p:cNvSpPr>
            <a:spLocks noGrp="1"/>
          </p:cNvSpPr>
          <p:nvPr>
            <p:ph type="title"/>
          </p:nvPr>
        </p:nvSpPr>
        <p:spPr/>
        <p:txBody>
          <a:bodyPr/>
          <a:lstStyle/>
          <a:p>
            <a:r>
              <a:rPr lang="ja-JP" altLang="en-US"/>
              <a:t>すっきり</a:t>
            </a:r>
            <a:r>
              <a:rPr kumimoji="1" lang="ja-JP" altLang="en-US"/>
              <a:t>最小主義</a:t>
            </a:r>
            <a:br>
              <a:rPr kumimoji="1" lang="en-US" altLang="ja-JP" dirty="0"/>
            </a:br>
            <a:r>
              <a:rPr kumimoji="1" lang="ja-JP" altLang="en-US"/>
              <a:t>重複表現を探せ</a:t>
            </a:r>
          </a:p>
        </p:txBody>
      </p:sp>
      <p:sp>
        <p:nvSpPr>
          <p:cNvPr id="3" name="コンテンツ プレースホルダー 2">
            <a:extLst>
              <a:ext uri="{FF2B5EF4-FFF2-40B4-BE49-F238E27FC236}">
                <a16:creationId xmlns:a16="http://schemas.microsoft.com/office/drawing/2014/main" id="{E3C79AC8-594F-2D4E-8B9C-3D34BBEBFE94}"/>
              </a:ext>
            </a:extLst>
          </p:cNvPr>
          <p:cNvSpPr>
            <a:spLocks noGrp="1"/>
          </p:cNvSpPr>
          <p:nvPr>
            <p:ph idx="1"/>
          </p:nvPr>
        </p:nvSpPr>
        <p:spPr/>
        <p:txBody>
          <a:bodyPr/>
          <a:lstStyle/>
          <a:p>
            <a:r>
              <a:rPr kumimoji="1" lang="ja-JP" altLang="en-US"/>
              <a:t>以下の英語を訳せ</a:t>
            </a:r>
            <a:endParaRPr kumimoji="1" lang="en-US" altLang="ja-JP" dirty="0"/>
          </a:p>
          <a:p>
            <a:pPr lvl="1"/>
            <a:r>
              <a:rPr lang="ja-JP" altLang="en-US"/>
              <a:t>リチャージャブルバッテリーの安定した充電のためには、電気が流れる端子部が清浄であることが重要です</a:t>
            </a:r>
            <a:endParaRPr lang="en-US" altLang="ja-JP" dirty="0"/>
          </a:p>
          <a:p>
            <a:pPr lvl="1"/>
            <a:endParaRPr kumimoji="1" lang="en-US" altLang="ja-JP" dirty="0"/>
          </a:p>
          <a:p>
            <a:r>
              <a:rPr lang="en-US" altLang="ja-JP" dirty="0"/>
              <a:t>Miro</a:t>
            </a:r>
            <a:r>
              <a:rPr lang="ja-JP" altLang="en-US"/>
              <a:t>で書いてみよう</a:t>
            </a:r>
            <a:r>
              <a:rPr lang="en-US" altLang="ja-JP" dirty="0"/>
              <a:t>!</a:t>
            </a:r>
          </a:p>
        </p:txBody>
      </p:sp>
    </p:spTree>
    <p:extLst>
      <p:ext uri="{BB962C8B-B14F-4D97-AF65-F5344CB8AC3E}">
        <p14:creationId xmlns:p14="http://schemas.microsoft.com/office/powerpoint/2010/main" val="440923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259B33-11ED-124A-9D1A-334557E5A3F7}"/>
              </a:ext>
            </a:extLst>
          </p:cNvPr>
          <p:cNvSpPr>
            <a:spLocks noGrp="1"/>
          </p:cNvSpPr>
          <p:nvPr>
            <p:ph type="title"/>
          </p:nvPr>
        </p:nvSpPr>
        <p:spPr/>
        <p:txBody>
          <a:bodyPr/>
          <a:lstStyle/>
          <a:p>
            <a:r>
              <a:rPr kumimoji="1" lang="ja-JP" altLang="en-US"/>
              <a:t>和文の段階で必要なところだけにする</a:t>
            </a:r>
          </a:p>
        </p:txBody>
      </p:sp>
      <p:sp>
        <p:nvSpPr>
          <p:cNvPr id="3" name="コンテンツ プレースホルダー 2">
            <a:extLst>
              <a:ext uri="{FF2B5EF4-FFF2-40B4-BE49-F238E27FC236}">
                <a16:creationId xmlns:a16="http://schemas.microsoft.com/office/drawing/2014/main" id="{818FB3B7-ACD3-DB44-83A9-44FA9D74AC82}"/>
              </a:ext>
            </a:extLst>
          </p:cNvPr>
          <p:cNvSpPr>
            <a:spLocks noGrp="1"/>
          </p:cNvSpPr>
          <p:nvPr>
            <p:ph idx="1"/>
          </p:nvPr>
        </p:nvSpPr>
        <p:spPr/>
        <p:txBody>
          <a:bodyPr/>
          <a:lstStyle/>
          <a:p>
            <a:r>
              <a:rPr lang="ja-JP" altLang="en-US"/>
              <a:t>「リ</a:t>
            </a:r>
            <a:r>
              <a:rPr kumimoji="1" lang="ja-JP" altLang="en-US"/>
              <a:t>チャージャブルバッテリー」と「充電」がかぶっている</a:t>
            </a:r>
            <a:endParaRPr kumimoji="1" lang="en-US" altLang="ja-JP" dirty="0"/>
          </a:p>
          <a:p>
            <a:r>
              <a:rPr lang="ja-JP" altLang="en-US"/>
              <a:t>「充電する」、「バッテリー」もかぶっている</a:t>
            </a:r>
            <a:endParaRPr lang="en-US" altLang="ja-JP" dirty="0"/>
          </a:p>
          <a:p>
            <a:r>
              <a:rPr kumimoji="1" lang="ja-JP" altLang="en-US"/>
              <a:t>「端子部」の「部」もいらない</a:t>
            </a:r>
            <a:endParaRPr kumimoji="1" lang="en-US" altLang="ja-JP" dirty="0"/>
          </a:p>
          <a:p>
            <a:r>
              <a:rPr lang="ja-JP" altLang="en-US"/>
              <a:t>「重要である」もちょっといらないかも</a:t>
            </a:r>
            <a:endParaRPr lang="en-US" altLang="ja-JP" dirty="0"/>
          </a:p>
          <a:p>
            <a:r>
              <a:rPr kumimoji="1" lang="ja-JP" altLang="en-US"/>
              <a:t>「清浄」をもっと簡単にいうと⇒「きれい」</a:t>
            </a:r>
          </a:p>
        </p:txBody>
      </p:sp>
      <p:sp>
        <p:nvSpPr>
          <p:cNvPr id="4" name="正方形/長方形 3">
            <a:extLst>
              <a:ext uri="{FF2B5EF4-FFF2-40B4-BE49-F238E27FC236}">
                <a16:creationId xmlns:a16="http://schemas.microsoft.com/office/drawing/2014/main" id="{9FAAA06D-03A6-0F41-8A41-60EE530A3D16}"/>
              </a:ext>
            </a:extLst>
          </p:cNvPr>
          <p:cNvSpPr/>
          <p:nvPr/>
        </p:nvSpPr>
        <p:spPr>
          <a:xfrm>
            <a:off x="2840610" y="4447343"/>
            <a:ext cx="6096000" cy="923330"/>
          </a:xfrm>
          <a:prstGeom prst="rect">
            <a:avLst/>
          </a:prstGeom>
          <a:ln>
            <a:solidFill>
              <a:schemeClr val="accent1"/>
            </a:solidFill>
          </a:ln>
        </p:spPr>
        <p:txBody>
          <a:bodyPr>
            <a:spAutoFit/>
          </a:bodyPr>
          <a:lstStyle/>
          <a:p>
            <a:pPr lvl="1"/>
            <a:r>
              <a:rPr lang="ja-JP" altLang="en-US"/>
              <a:t>リチャージャブルバッテリーの安定した充電のためには、電気が流れる端子部が正常であることが重要です</a:t>
            </a:r>
          </a:p>
        </p:txBody>
      </p:sp>
      <p:sp>
        <p:nvSpPr>
          <p:cNvPr id="5" name="下矢印 4">
            <a:extLst>
              <a:ext uri="{FF2B5EF4-FFF2-40B4-BE49-F238E27FC236}">
                <a16:creationId xmlns:a16="http://schemas.microsoft.com/office/drawing/2014/main" id="{209E15E3-9FDB-3E47-A230-1D03DDBF2404}"/>
              </a:ext>
            </a:extLst>
          </p:cNvPr>
          <p:cNvSpPr/>
          <p:nvPr/>
        </p:nvSpPr>
        <p:spPr>
          <a:xfrm>
            <a:off x="5853684" y="5413840"/>
            <a:ext cx="484632" cy="381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779F2CDC-C011-A84F-B36F-AFC5909361E0}"/>
              </a:ext>
            </a:extLst>
          </p:cNvPr>
          <p:cNvSpPr/>
          <p:nvPr/>
        </p:nvSpPr>
        <p:spPr>
          <a:xfrm>
            <a:off x="2840610" y="5838238"/>
            <a:ext cx="6096000" cy="646331"/>
          </a:xfrm>
          <a:prstGeom prst="rect">
            <a:avLst/>
          </a:prstGeom>
          <a:ln>
            <a:solidFill>
              <a:schemeClr val="accent1"/>
            </a:solidFill>
          </a:ln>
        </p:spPr>
        <p:txBody>
          <a:bodyPr>
            <a:spAutoFit/>
          </a:bodyPr>
          <a:lstStyle/>
          <a:p>
            <a:pPr lvl="1"/>
            <a:r>
              <a:rPr lang="ja-JP" altLang="en-US"/>
              <a:t>安定した充電のためには端子をきれいにして</a:t>
            </a:r>
            <a:br>
              <a:rPr lang="en-US" altLang="ja-JP" dirty="0"/>
            </a:br>
            <a:r>
              <a:rPr lang="ja-JP" altLang="en-US"/>
              <a:t>ください</a:t>
            </a:r>
          </a:p>
        </p:txBody>
      </p:sp>
    </p:spTree>
    <p:extLst>
      <p:ext uri="{BB962C8B-B14F-4D97-AF65-F5344CB8AC3E}">
        <p14:creationId xmlns:p14="http://schemas.microsoft.com/office/powerpoint/2010/main" val="2315846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08A105-2D67-4B40-B9DA-86935F8AB960}"/>
              </a:ext>
            </a:extLst>
          </p:cNvPr>
          <p:cNvSpPr>
            <a:spLocks noGrp="1"/>
          </p:cNvSpPr>
          <p:nvPr>
            <p:ph type="title"/>
          </p:nvPr>
        </p:nvSpPr>
        <p:spPr/>
        <p:txBody>
          <a:bodyPr/>
          <a:lstStyle/>
          <a:p>
            <a:r>
              <a:rPr kumimoji="1" lang="ja-JP" altLang="en-US"/>
              <a:t>解答例</a:t>
            </a:r>
          </a:p>
        </p:txBody>
      </p:sp>
      <p:sp>
        <p:nvSpPr>
          <p:cNvPr id="3" name="コンテンツ プレースホルダー 2">
            <a:extLst>
              <a:ext uri="{FF2B5EF4-FFF2-40B4-BE49-F238E27FC236}">
                <a16:creationId xmlns:a16="http://schemas.microsoft.com/office/drawing/2014/main" id="{D1D4AFF5-08F2-A840-B5AB-101682326D85}"/>
              </a:ext>
            </a:extLst>
          </p:cNvPr>
          <p:cNvSpPr>
            <a:spLocks noGrp="1"/>
          </p:cNvSpPr>
          <p:nvPr>
            <p:ph idx="1"/>
          </p:nvPr>
        </p:nvSpPr>
        <p:spPr/>
        <p:txBody>
          <a:bodyPr/>
          <a:lstStyle/>
          <a:p>
            <a:r>
              <a:rPr kumimoji="1" lang="en-US" altLang="ja-JP" dirty="0"/>
              <a:t>Clean the terminals for stable charging</a:t>
            </a:r>
          </a:p>
          <a:p>
            <a:r>
              <a:rPr lang="ja-JP" altLang="en-US"/>
              <a:t>なぜ</a:t>
            </a:r>
            <a:r>
              <a:rPr lang="en-US" altLang="ja-JP" dirty="0"/>
              <a:t>the</a:t>
            </a:r>
            <a:r>
              <a:rPr lang="ja-JP" altLang="en-US"/>
              <a:t>がつくのでしょうか？</a:t>
            </a:r>
            <a:endParaRPr lang="en-US" altLang="ja-JP" dirty="0"/>
          </a:p>
          <a:p>
            <a:pPr lvl="1"/>
            <a:r>
              <a:rPr kumimoji="1" lang="ja-JP" altLang="en-US"/>
              <a:t>端子が読み手にとって既知のものだから</a:t>
            </a:r>
            <a:endParaRPr kumimoji="1" lang="en-US" altLang="ja-JP" dirty="0"/>
          </a:p>
          <a:p>
            <a:pPr lvl="1"/>
            <a:r>
              <a:rPr kumimoji="1" lang="ja-JP" altLang="en-US"/>
              <a:t>動詞</a:t>
            </a:r>
            <a:r>
              <a:rPr kumimoji="1" lang="en-US" altLang="ja-JP" dirty="0"/>
              <a:t>(Clean)+</a:t>
            </a:r>
            <a:r>
              <a:rPr lang="ja-JP" altLang="en-US"/>
              <a:t>名詞</a:t>
            </a:r>
            <a:r>
              <a:rPr lang="en-US" altLang="ja-JP" dirty="0"/>
              <a:t>(terminals)</a:t>
            </a:r>
            <a:r>
              <a:rPr lang="ja-JP" altLang="en-US"/>
              <a:t>であることがわかる</a:t>
            </a:r>
            <a:endParaRPr kumimoji="1" lang="ja-JP" altLang="en-US"/>
          </a:p>
        </p:txBody>
      </p:sp>
    </p:spTree>
    <p:extLst>
      <p:ext uri="{BB962C8B-B14F-4D97-AF65-F5344CB8AC3E}">
        <p14:creationId xmlns:p14="http://schemas.microsoft.com/office/powerpoint/2010/main" val="3863516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629146-E37B-EE40-A868-8C8E57672942}"/>
              </a:ext>
            </a:extLst>
          </p:cNvPr>
          <p:cNvSpPr>
            <a:spLocks noGrp="1"/>
          </p:cNvSpPr>
          <p:nvPr>
            <p:ph type="title"/>
          </p:nvPr>
        </p:nvSpPr>
        <p:spPr/>
        <p:txBody>
          <a:bodyPr/>
          <a:lstStyle/>
          <a:p>
            <a:r>
              <a:rPr lang="ja-JP" altLang="en-US"/>
              <a:t>すっきり</a:t>
            </a:r>
            <a:r>
              <a:rPr kumimoji="1" lang="ja-JP" altLang="en-US"/>
              <a:t>最小主義</a:t>
            </a:r>
            <a:br>
              <a:rPr kumimoji="1" lang="en-US" altLang="ja-JP" dirty="0"/>
            </a:br>
            <a:r>
              <a:rPr kumimoji="1" lang="ja-JP" altLang="en-US"/>
              <a:t>原文の矛盾を見逃すな</a:t>
            </a:r>
          </a:p>
        </p:txBody>
      </p:sp>
      <p:sp>
        <p:nvSpPr>
          <p:cNvPr id="3" name="コンテンツ プレースホルダー 2">
            <a:extLst>
              <a:ext uri="{FF2B5EF4-FFF2-40B4-BE49-F238E27FC236}">
                <a16:creationId xmlns:a16="http://schemas.microsoft.com/office/drawing/2014/main" id="{5A17AA70-5DC0-F34D-A96C-DA2367B73005}"/>
              </a:ext>
            </a:extLst>
          </p:cNvPr>
          <p:cNvSpPr>
            <a:spLocks noGrp="1"/>
          </p:cNvSpPr>
          <p:nvPr>
            <p:ph idx="1"/>
          </p:nvPr>
        </p:nvSpPr>
        <p:spPr/>
        <p:txBody>
          <a:bodyPr/>
          <a:lstStyle/>
          <a:p>
            <a:r>
              <a:rPr kumimoji="1" lang="ja-JP" altLang="en-US"/>
              <a:t>以下を英訳せよ</a:t>
            </a:r>
            <a:endParaRPr kumimoji="1" lang="en-US" altLang="ja-JP" dirty="0"/>
          </a:p>
          <a:p>
            <a:pPr lvl="1"/>
            <a:r>
              <a:rPr lang="ja-JP" altLang="en-US"/>
              <a:t>この</a:t>
            </a:r>
            <a:r>
              <a:rPr lang="en-US" altLang="ja-JP" dirty="0"/>
              <a:t>PC</a:t>
            </a:r>
            <a:r>
              <a:rPr lang="ja-JP" altLang="en-US"/>
              <a:t>の標準搭載のメモリ容量は最大で</a:t>
            </a:r>
            <a:r>
              <a:rPr lang="en-US" altLang="ja-JP" dirty="0"/>
              <a:t>8GB</a:t>
            </a:r>
            <a:r>
              <a:rPr lang="ja-JP" altLang="en-US"/>
              <a:t>です</a:t>
            </a:r>
            <a:endParaRPr lang="en-US" altLang="ja-JP" dirty="0"/>
          </a:p>
          <a:p>
            <a:pPr lvl="1"/>
            <a:r>
              <a:rPr lang="en-US" altLang="ja-JP" dirty="0"/>
              <a:t>(</a:t>
            </a:r>
            <a:r>
              <a:rPr lang="ja-JP" altLang="en-US"/>
              <a:t>矛盾かどうかは若干微妙</a:t>
            </a:r>
            <a:r>
              <a:rPr lang="en-US" altLang="ja-JP" dirty="0"/>
              <a:t>)</a:t>
            </a:r>
          </a:p>
          <a:p>
            <a:pPr lvl="1"/>
            <a:endParaRPr lang="en-US" altLang="ja-JP" dirty="0"/>
          </a:p>
          <a:p>
            <a:pPr lvl="1"/>
            <a:r>
              <a:rPr lang="en-US" altLang="ja-JP" dirty="0"/>
              <a:t>Miro</a:t>
            </a:r>
            <a:r>
              <a:rPr lang="ja-JP" altLang="en-US"/>
              <a:t>で書いてみよう</a:t>
            </a:r>
            <a:r>
              <a:rPr lang="en-US" altLang="ja-JP" dirty="0"/>
              <a:t>!</a:t>
            </a:r>
          </a:p>
        </p:txBody>
      </p:sp>
    </p:spTree>
    <p:extLst>
      <p:ext uri="{BB962C8B-B14F-4D97-AF65-F5344CB8AC3E}">
        <p14:creationId xmlns:p14="http://schemas.microsoft.com/office/powerpoint/2010/main" val="756877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BAE006-C8BB-434A-8FDC-39E2BC19ECF5}"/>
              </a:ext>
            </a:extLst>
          </p:cNvPr>
          <p:cNvSpPr>
            <a:spLocks noGrp="1"/>
          </p:cNvSpPr>
          <p:nvPr>
            <p:ph type="title"/>
          </p:nvPr>
        </p:nvSpPr>
        <p:spPr/>
        <p:txBody>
          <a:bodyPr/>
          <a:lstStyle/>
          <a:p>
            <a:r>
              <a:rPr kumimoji="1" lang="ja-JP" altLang="en-US"/>
              <a:t>矛盾を見逃さず必要なところだけにする</a:t>
            </a:r>
          </a:p>
        </p:txBody>
      </p:sp>
      <p:sp>
        <p:nvSpPr>
          <p:cNvPr id="3" name="コンテンツ プレースホルダー 2">
            <a:extLst>
              <a:ext uri="{FF2B5EF4-FFF2-40B4-BE49-F238E27FC236}">
                <a16:creationId xmlns:a16="http://schemas.microsoft.com/office/drawing/2014/main" id="{D7076528-60E9-0645-9162-0C725FBF68A3}"/>
              </a:ext>
            </a:extLst>
          </p:cNvPr>
          <p:cNvSpPr>
            <a:spLocks noGrp="1"/>
          </p:cNvSpPr>
          <p:nvPr>
            <p:ph idx="1"/>
          </p:nvPr>
        </p:nvSpPr>
        <p:spPr/>
        <p:txBody>
          <a:bodyPr/>
          <a:lstStyle/>
          <a:p>
            <a:r>
              <a:rPr kumimoji="1" lang="ja-JP" altLang="en-US"/>
              <a:t>「標準搭載」で「最大」なのはおかしい</a:t>
            </a:r>
            <a:endParaRPr kumimoji="1" lang="en-US" altLang="ja-JP" dirty="0"/>
          </a:p>
          <a:p>
            <a:r>
              <a:rPr lang="ja-JP" altLang="en-US"/>
              <a:t>「搭載」もいらない</a:t>
            </a:r>
            <a:endParaRPr lang="en-US" altLang="ja-JP" dirty="0"/>
          </a:p>
          <a:p>
            <a:r>
              <a:rPr kumimoji="1" lang="ja-JP" altLang="en-US"/>
              <a:t>「メモリ容量」もちょっと大げさ⇒「メモリサイズ」</a:t>
            </a:r>
            <a:endParaRPr kumimoji="1" lang="en-US" altLang="ja-JP" dirty="0"/>
          </a:p>
          <a:p>
            <a:pPr marL="0" indent="0">
              <a:buNone/>
            </a:pPr>
            <a:r>
              <a:rPr kumimoji="1" lang="ja-JP" altLang="en-US"/>
              <a:t>⇒</a:t>
            </a:r>
            <a:endParaRPr kumimoji="1" lang="en-US" altLang="ja-JP" dirty="0"/>
          </a:p>
          <a:p>
            <a:r>
              <a:rPr lang="ja-JP" altLang="en-US"/>
              <a:t>この</a:t>
            </a:r>
            <a:r>
              <a:rPr lang="en-US" altLang="ja-JP" dirty="0"/>
              <a:t>PC</a:t>
            </a:r>
            <a:r>
              <a:rPr lang="ja-JP" altLang="en-US"/>
              <a:t>の標準メモリサイズは</a:t>
            </a:r>
            <a:r>
              <a:rPr lang="en-US" altLang="ja-JP" dirty="0"/>
              <a:t>8GB</a:t>
            </a:r>
            <a:r>
              <a:rPr lang="ja-JP" altLang="en-US"/>
              <a:t>です</a:t>
            </a:r>
            <a:endParaRPr lang="en-US" altLang="ja-JP" dirty="0"/>
          </a:p>
          <a:p>
            <a:endParaRPr kumimoji="1" lang="en-US" altLang="ja-JP" dirty="0"/>
          </a:p>
          <a:p>
            <a:r>
              <a:rPr kumimoji="1" lang="en-US" altLang="ja-JP" dirty="0"/>
              <a:t>The standard memory size is 8GB</a:t>
            </a:r>
            <a:endParaRPr kumimoji="1" lang="ja-JP" altLang="en-US"/>
          </a:p>
        </p:txBody>
      </p:sp>
    </p:spTree>
    <p:extLst>
      <p:ext uri="{BB962C8B-B14F-4D97-AF65-F5344CB8AC3E}">
        <p14:creationId xmlns:p14="http://schemas.microsoft.com/office/powerpoint/2010/main" val="3534345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D43006-39D6-124E-A96B-6E2C4FFCE324}"/>
              </a:ext>
            </a:extLst>
          </p:cNvPr>
          <p:cNvSpPr>
            <a:spLocks noGrp="1"/>
          </p:cNvSpPr>
          <p:nvPr>
            <p:ph type="title"/>
          </p:nvPr>
        </p:nvSpPr>
        <p:spPr/>
        <p:txBody>
          <a:bodyPr/>
          <a:lstStyle/>
          <a:p>
            <a:r>
              <a:rPr lang="ja-JP" altLang="en-US"/>
              <a:t>すっきり</a:t>
            </a:r>
            <a:r>
              <a:rPr kumimoji="1" lang="ja-JP" altLang="en-US"/>
              <a:t>最小主義</a:t>
            </a:r>
            <a:br>
              <a:rPr kumimoji="1" lang="en-US" altLang="ja-JP" dirty="0"/>
            </a:br>
            <a:r>
              <a:rPr kumimoji="1" lang="ja-JP" altLang="en-US"/>
              <a:t>空っぽ表現を捨てる</a:t>
            </a:r>
          </a:p>
        </p:txBody>
      </p:sp>
      <p:sp>
        <p:nvSpPr>
          <p:cNvPr id="3" name="コンテンツ プレースホルダー 2">
            <a:extLst>
              <a:ext uri="{FF2B5EF4-FFF2-40B4-BE49-F238E27FC236}">
                <a16:creationId xmlns:a16="http://schemas.microsoft.com/office/drawing/2014/main" id="{EC64411E-5453-8644-B710-4B6CC5C5182D}"/>
              </a:ext>
            </a:extLst>
          </p:cNvPr>
          <p:cNvSpPr>
            <a:spLocks noGrp="1"/>
          </p:cNvSpPr>
          <p:nvPr>
            <p:ph idx="1"/>
          </p:nvPr>
        </p:nvSpPr>
        <p:spPr/>
        <p:txBody>
          <a:bodyPr/>
          <a:lstStyle/>
          <a:p>
            <a:r>
              <a:rPr kumimoji="1" lang="ja-JP" altLang="en-US"/>
              <a:t>以下を英訳せよ</a:t>
            </a:r>
            <a:endParaRPr kumimoji="1" lang="en-US" altLang="ja-JP" dirty="0"/>
          </a:p>
          <a:p>
            <a:pPr lvl="1"/>
            <a:r>
              <a:rPr lang="ja-JP" altLang="en-US"/>
              <a:t>オフィスでの集中力の妨げの原因となる不快な騒音を排除することで、生産性の向上が期待できるようになる</a:t>
            </a:r>
            <a:endParaRPr lang="en-US" altLang="ja-JP" dirty="0"/>
          </a:p>
          <a:p>
            <a:pPr lvl="1"/>
            <a:endParaRPr lang="en-US" altLang="ja-JP" dirty="0"/>
          </a:p>
          <a:p>
            <a:pPr lvl="1"/>
            <a:r>
              <a:rPr lang="en-US" altLang="ja-JP" dirty="0"/>
              <a:t>Miro</a:t>
            </a:r>
            <a:r>
              <a:rPr lang="ja-JP" altLang="en-US"/>
              <a:t>で書いてみよう</a:t>
            </a:r>
            <a:endParaRPr lang="en-US" altLang="ja-JP" dirty="0"/>
          </a:p>
        </p:txBody>
      </p:sp>
    </p:spTree>
    <p:extLst>
      <p:ext uri="{BB962C8B-B14F-4D97-AF65-F5344CB8AC3E}">
        <p14:creationId xmlns:p14="http://schemas.microsoft.com/office/powerpoint/2010/main" val="1741750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643469-3CFF-E64A-A519-44A3B023DCB6}"/>
              </a:ext>
            </a:extLst>
          </p:cNvPr>
          <p:cNvSpPr>
            <a:spLocks noGrp="1"/>
          </p:cNvSpPr>
          <p:nvPr>
            <p:ph type="title"/>
          </p:nvPr>
        </p:nvSpPr>
        <p:spPr/>
        <p:txBody>
          <a:bodyPr/>
          <a:lstStyle/>
          <a:p>
            <a:r>
              <a:rPr kumimoji="1" lang="ja-JP" altLang="en-US"/>
              <a:t>解答例</a:t>
            </a:r>
          </a:p>
        </p:txBody>
      </p:sp>
      <p:sp>
        <p:nvSpPr>
          <p:cNvPr id="3" name="コンテンツ プレースホルダー 2">
            <a:extLst>
              <a:ext uri="{FF2B5EF4-FFF2-40B4-BE49-F238E27FC236}">
                <a16:creationId xmlns:a16="http://schemas.microsoft.com/office/drawing/2014/main" id="{DCA0D73D-0807-314B-BC8E-211C5A378459}"/>
              </a:ext>
            </a:extLst>
          </p:cNvPr>
          <p:cNvSpPr>
            <a:spLocks noGrp="1"/>
          </p:cNvSpPr>
          <p:nvPr>
            <p:ph idx="1"/>
          </p:nvPr>
        </p:nvSpPr>
        <p:spPr/>
        <p:txBody>
          <a:bodyPr/>
          <a:lstStyle/>
          <a:p>
            <a:r>
              <a:rPr kumimoji="1" lang="ja-JP" altLang="en-US"/>
              <a:t>「妨げの原因になる」⇒妨げる</a:t>
            </a:r>
            <a:endParaRPr kumimoji="1" lang="en-US" altLang="ja-JP" dirty="0"/>
          </a:p>
          <a:p>
            <a:r>
              <a:rPr lang="ja-JP" altLang="en-US"/>
              <a:t>「ようになる」⇒いらない</a:t>
            </a:r>
            <a:endParaRPr lang="en-US" altLang="ja-JP" dirty="0"/>
          </a:p>
          <a:p>
            <a:r>
              <a:rPr kumimoji="1" lang="ja-JP" altLang="en-US"/>
              <a:t>「不快」⇒騒音なのだから不快なのは当たり前。</a:t>
            </a:r>
            <a:br>
              <a:rPr lang="en-US" altLang="ja-JP" dirty="0"/>
            </a:br>
            <a:r>
              <a:rPr lang="ja-JP" altLang="en-US"/>
              <a:t>　</a:t>
            </a:r>
            <a:r>
              <a:rPr kumimoji="1" lang="ja-JP" altLang="en-US"/>
              <a:t>なのでいらない（</a:t>
            </a:r>
            <a:r>
              <a:rPr lang="ja-JP" altLang="en-US"/>
              <a:t>英語だと、</a:t>
            </a:r>
            <a:r>
              <a:rPr lang="en-US" altLang="ja-JP" dirty="0"/>
              <a:t>noise</a:t>
            </a:r>
            <a:r>
              <a:rPr lang="ja-JP" altLang="en-US"/>
              <a:t>だけでは不快の意味は必ずしもないので、文脈で判断</a:t>
            </a:r>
            <a:r>
              <a:rPr kumimoji="1" lang="ja-JP" altLang="en-US"/>
              <a:t>）</a:t>
            </a:r>
            <a:endParaRPr kumimoji="1" lang="en-US" altLang="ja-JP" dirty="0"/>
          </a:p>
          <a:p>
            <a:r>
              <a:rPr lang="ja-JP" altLang="en-US"/>
              <a:t>絶対になくてはならない要素は？</a:t>
            </a:r>
            <a:endParaRPr lang="en-US" altLang="ja-JP" dirty="0"/>
          </a:p>
          <a:p>
            <a:pPr lvl="1"/>
            <a:r>
              <a:rPr kumimoji="1" lang="ja-JP" altLang="en-US"/>
              <a:t>生産性の向上と、騒音の排除</a:t>
            </a:r>
            <a:endParaRPr kumimoji="1" lang="en-US" altLang="ja-JP" dirty="0"/>
          </a:p>
          <a:p>
            <a:r>
              <a:rPr lang="ja-JP" altLang="en-US"/>
              <a:t>⇒騒音を排除することは生産性を向上させる</a:t>
            </a:r>
            <a:endParaRPr lang="en-US" altLang="ja-JP" dirty="0"/>
          </a:p>
          <a:p>
            <a:r>
              <a:rPr kumimoji="1" lang="ja-JP" altLang="en-US"/>
              <a:t>⇒</a:t>
            </a:r>
            <a:r>
              <a:rPr kumimoji="1" lang="en-US" altLang="ja-JP" dirty="0"/>
              <a:t>Eliminating noise improves productivity</a:t>
            </a:r>
          </a:p>
          <a:p>
            <a:endParaRPr kumimoji="1" lang="ja-JP" altLang="en-US"/>
          </a:p>
        </p:txBody>
      </p:sp>
    </p:spTree>
    <p:extLst>
      <p:ext uri="{BB962C8B-B14F-4D97-AF65-F5344CB8AC3E}">
        <p14:creationId xmlns:p14="http://schemas.microsoft.com/office/powerpoint/2010/main" val="3141717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24C6CB-6226-7643-9015-6A645ADB4DDD}"/>
              </a:ext>
            </a:extLst>
          </p:cNvPr>
          <p:cNvSpPr>
            <a:spLocks noGrp="1"/>
          </p:cNvSpPr>
          <p:nvPr>
            <p:ph type="title"/>
          </p:nvPr>
        </p:nvSpPr>
        <p:spPr/>
        <p:txBody>
          <a:bodyPr/>
          <a:lstStyle/>
          <a:p>
            <a:r>
              <a:rPr kumimoji="1" lang="ja-JP" altLang="en-US"/>
              <a:t>言い切りたくないとき、調整する</a:t>
            </a:r>
          </a:p>
        </p:txBody>
      </p:sp>
      <p:sp>
        <p:nvSpPr>
          <p:cNvPr id="3" name="コンテンツ プレースホルダー 2">
            <a:extLst>
              <a:ext uri="{FF2B5EF4-FFF2-40B4-BE49-F238E27FC236}">
                <a16:creationId xmlns:a16="http://schemas.microsoft.com/office/drawing/2014/main" id="{F52577FD-FD57-BF4C-B77B-6281D334F90F}"/>
              </a:ext>
            </a:extLst>
          </p:cNvPr>
          <p:cNvSpPr>
            <a:spLocks noGrp="1"/>
          </p:cNvSpPr>
          <p:nvPr>
            <p:ph idx="1"/>
          </p:nvPr>
        </p:nvSpPr>
        <p:spPr/>
        <p:txBody>
          <a:bodyPr/>
          <a:lstStyle/>
          <a:p>
            <a:r>
              <a:rPr lang="ja-JP" altLang="en-US"/>
              <a:t>弱く</a:t>
            </a:r>
            <a:r>
              <a:rPr kumimoji="1" lang="ja-JP" altLang="en-US"/>
              <a:t>言いたいとき</a:t>
            </a:r>
            <a:r>
              <a:rPr kumimoji="1" lang="en-US" altLang="ja-JP" dirty="0"/>
              <a:t>(5%~10%</a:t>
            </a:r>
            <a:r>
              <a:rPr kumimoji="1" lang="ja-JP" altLang="en-US"/>
              <a:t>ぐらい</a:t>
            </a:r>
            <a:r>
              <a:rPr kumimoji="1" lang="en-US" altLang="ja-JP" dirty="0"/>
              <a:t>)</a:t>
            </a:r>
          </a:p>
          <a:p>
            <a:pPr lvl="1"/>
            <a:r>
              <a:rPr lang="en-US" altLang="ja-JP" dirty="0"/>
              <a:t>Eliminating noise can improve productivity</a:t>
            </a:r>
          </a:p>
          <a:p>
            <a:pPr lvl="1"/>
            <a:endParaRPr lang="en-US" altLang="ja-JP" dirty="0"/>
          </a:p>
          <a:p>
            <a:r>
              <a:rPr lang="ja-JP" altLang="en-US"/>
              <a:t>強く言いたいとき</a:t>
            </a:r>
            <a:r>
              <a:rPr lang="en-US" altLang="ja-JP" dirty="0"/>
              <a:t>(80%~90%) (</a:t>
            </a:r>
            <a:r>
              <a:rPr lang="ja-JP" altLang="en-US"/>
              <a:t>でも言い切りたくないとき</a:t>
            </a:r>
            <a:r>
              <a:rPr lang="en-US" altLang="ja-JP" dirty="0"/>
              <a:t>)</a:t>
            </a:r>
          </a:p>
          <a:p>
            <a:pPr lvl="1"/>
            <a:r>
              <a:rPr lang="en-US" altLang="ja-JP" dirty="0"/>
              <a:t> Eliminating noise can probably improve productivity</a:t>
            </a:r>
            <a:endParaRPr kumimoji="1" lang="ja-JP" altLang="en-US"/>
          </a:p>
        </p:txBody>
      </p:sp>
      <p:sp>
        <p:nvSpPr>
          <p:cNvPr id="4" name="正方形/長方形 3">
            <a:extLst>
              <a:ext uri="{FF2B5EF4-FFF2-40B4-BE49-F238E27FC236}">
                <a16:creationId xmlns:a16="http://schemas.microsoft.com/office/drawing/2014/main" id="{286C5DE7-22E5-1D4A-87B6-10B49276786A}"/>
              </a:ext>
            </a:extLst>
          </p:cNvPr>
          <p:cNvSpPr/>
          <p:nvPr/>
        </p:nvSpPr>
        <p:spPr>
          <a:xfrm>
            <a:off x="3216875" y="4169805"/>
            <a:ext cx="5758249" cy="2323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a:t>「オフィスの集中の妨げの原因となる」</a:t>
            </a:r>
            <a:endParaRPr kumimoji="1" lang="en-US" altLang="ja-JP" sz="2400" dirty="0"/>
          </a:p>
          <a:p>
            <a:pPr algn="ctr"/>
            <a:r>
              <a:rPr lang="ja-JP" altLang="en-US" sz="2400"/>
              <a:t>は必要か？</a:t>
            </a:r>
            <a:endParaRPr lang="en-US" altLang="ja-JP" sz="2400" dirty="0"/>
          </a:p>
          <a:p>
            <a:pPr algn="ctr"/>
            <a:r>
              <a:rPr kumimoji="1" lang="ja-JP" altLang="en-US" sz="2400"/>
              <a:t>⇒</a:t>
            </a:r>
            <a:endParaRPr kumimoji="1" lang="en-US" altLang="ja-JP" sz="2400" dirty="0"/>
          </a:p>
          <a:p>
            <a:pPr algn="ctr"/>
            <a:r>
              <a:rPr lang="ja-JP" altLang="en-US" sz="2400"/>
              <a:t>それを聞いた所で、情報量が増えない</a:t>
            </a:r>
            <a:endParaRPr lang="en-US" altLang="ja-JP" sz="2400" dirty="0"/>
          </a:p>
          <a:p>
            <a:pPr algn="ctr"/>
            <a:r>
              <a:rPr kumimoji="1" lang="ja-JP" altLang="en-US" sz="2400"/>
              <a:t>⇒</a:t>
            </a:r>
            <a:endParaRPr kumimoji="1" lang="en-US" altLang="ja-JP" sz="2400" dirty="0"/>
          </a:p>
          <a:p>
            <a:pPr algn="ctr"/>
            <a:r>
              <a:rPr lang="ja-JP" altLang="en-US" sz="2400"/>
              <a:t>技術英語ではいらない</a:t>
            </a:r>
            <a:endParaRPr kumimoji="1" lang="ja-JP" altLang="en-US" sz="2400"/>
          </a:p>
        </p:txBody>
      </p:sp>
    </p:spTree>
    <p:extLst>
      <p:ext uri="{BB962C8B-B14F-4D97-AF65-F5344CB8AC3E}">
        <p14:creationId xmlns:p14="http://schemas.microsoft.com/office/powerpoint/2010/main" val="1980971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9B00A4-0303-4B4C-B7C0-FB1191148727}"/>
              </a:ext>
            </a:extLst>
          </p:cNvPr>
          <p:cNvSpPr>
            <a:spLocks noGrp="1"/>
          </p:cNvSpPr>
          <p:nvPr>
            <p:ph type="title"/>
          </p:nvPr>
        </p:nvSpPr>
        <p:spPr/>
        <p:txBody>
          <a:bodyPr/>
          <a:lstStyle/>
          <a:p>
            <a:r>
              <a:rPr kumimoji="1" lang="ja-JP" altLang="en-US"/>
              <a:t>すっきり最小主義</a:t>
            </a:r>
            <a:br>
              <a:rPr kumimoji="1" lang="en-US" altLang="ja-JP" dirty="0"/>
            </a:br>
            <a:r>
              <a:rPr kumimoji="1" lang="ja-JP" altLang="en-US"/>
              <a:t>無駄に丁寧、かえって失礼</a:t>
            </a:r>
          </a:p>
        </p:txBody>
      </p:sp>
      <p:sp>
        <p:nvSpPr>
          <p:cNvPr id="3" name="コンテンツ プレースホルダー 2">
            <a:extLst>
              <a:ext uri="{FF2B5EF4-FFF2-40B4-BE49-F238E27FC236}">
                <a16:creationId xmlns:a16="http://schemas.microsoft.com/office/drawing/2014/main" id="{DD611550-292E-7E4A-A12D-6BCF5980A096}"/>
              </a:ext>
            </a:extLst>
          </p:cNvPr>
          <p:cNvSpPr>
            <a:spLocks noGrp="1"/>
          </p:cNvSpPr>
          <p:nvPr>
            <p:ph idx="1"/>
          </p:nvPr>
        </p:nvSpPr>
        <p:spPr/>
        <p:txBody>
          <a:bodyPr/>
          <a:lstStyle/>
          <a:p>
            <a:r>
              <a:rPr kumimoji="1" lang="ja-JP" altLang="en-US"/>
              <a:t>以下を英訳せよ</a:t>
            </a:r>
            <a:endParaRPr kumimoji="1" lang="en-US" altLang="ja-JP" dirty="0"/>
          </a:p>
          <a:p>
            <a:pPr lvl="1"/>
            <a:r>
              <a:rPr lang="ja-JP" altLang="en-US"/>
              <a:t>本日、無事に設計の最終確認を終了することができました。</a:t>
            </a:r>
            <a:endParaRPr lang="en-US" altLang="ja-JP" dirty="0"/>
          </a:p>
          <a:p>
            <a:pPr lvl="1"/>
            <a:endParaRPr kumimoji="1" lang="en-US" altLang="ja-JP" dirty="0"/>
          </a:p>
          <a:p>
            <a:r>
              <a:rPr lang="en-US" altLang="ja-JP" dirty="0"/>
              <a:t>Miro</a:t>
            </a:r>
            <a:r>
              <a:rPr lang="ja-JP" altLang="en-US"/>
              <a:t>で書いてみよう</a:t>
            </a:r>
            <a:r>
              <a:rPr lang="en-US" altLang="ja-JP" dirty="0"/>
              <a:t>!</a:t>
            </a:r>
          </a:p>
        </p:txBody>
      </p:sp>
    </p:spTree>
    <p:extLst>
      <p:ext uri="{BB962C8B-B14F-4D97-AF65-F5344CB8AC3E}">
        <p14:creationId xmlns:p14="http://schemas.microsoft.com/office/powerpoint/2010/main" val="1176211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60A3B7-389C-4D40-9407-CD355B32E450}"/>
              </a:ext>
            </a:extLst>
          </p:cNvPr>
          <p:cNvSpPr>
            <a:spLocks noGrp="1"/>
          </p:cNvSpPr>
          <p:nvPr>
            <p:ph type="title"/>
          </p:nvPr>
        </p:nvSpPr>
        <p:spPr/>
        <p:txBody>
          <a:bodyPr/>
          <a:lstStyle/>
          <a:p>
            <a:r>
              <a:rPr lang="ja-JP" altLang="en-US"/>
              <a:t>解答例</a:t>
            </a:r>
            <a:endParaRPr kumimoji="1" lang="ja-JP" altLang="en-US"/>
          </a:p>
        </p:txBody>
      </p:sp>
      <p:sp>
        <p:nvSpPr>
          <p:cNvPr id="3" name="コンテンツ プレースホルダー 2">
            <a:extLst>
              <a:ext uri="{FF2B5EF4-FFF2-40B4-BE49-F238E27FC236}">
                <a16:creationId xmlns:a16="http://schemas.microsoft.com/office/drawing/2014/main" id="{D9B6EDC7-402A-C043-BE3A-E2B52426A3F4}"/>
              </a:ext>
            </a:extLst>
          </p:cNvPr>
          <p:cNvSpPr>
            <a:spLocks noGrp="1"/>
          </p:cNvSpPr>
          <p:nvPr>
            <p:ph idx="1"/>
          </p:nvPr>
        </p:nvSpPr>
        <p:spPr/>
        <p:txBody>
          <a:bodyPr>
            <a:normAutofit fontScale="92500" lnSpcReduction="10000"/>
          </a:bodyPr>
          <a:lstStyle/>
          <a:p>
            <a:r>
              <a:rPr kumimoji="1" lang="en-US" altLang="ja-JP" dirty="0"/>
              <a:t>Could</a:t>
            </a:r>
            <a:r>
              <a:rPr kumimoji="1" lang="ja-JP" altLang="en-US"/>
              <a:t>を「できる」の過去形とだけ考えるのは危険</a:t>
            </a:r>
            <a:endParaRPr kumimoji="1" lang="en-US" altLang="ja-JP" dirty="0"/>
          </a:p>
          <a:p>
            <a:pPr lvl="1"/>
            <a:r>
              <a:rPr lang="ja-JP" altLang="en-US"/>
              <a:t>かもしれない</a:t>
            </a:r>
            <a:r>
              <a:rPr lang="en-US" altLang="ja-JP" dirty="0"/>
              <a:t>〜</a:t>
            </a:r>
            <a:r>
              <a:rPr lang="ja-JP" altLang="en-US"/>
              <a:t>　</a:t>
            </a:r>
            <a:endParaRPr kumimoji="1" lang="en-US" altLang="ja-JP" dirty="0"/>
          </a:p>
          <a:p>
            <a:r>
              <a:rPr lang="ja-JP" altLang="en-US"/>
              <a:t>「無事に」とかいらない。言いたいことは</a:t>
            </a:r>
            <a:endParaRPr lang="en-US" altLang="ja-JP" dirty="0"/>
          </a:p>
          <a:p>
            <a:pPr lvl="1"/>
            <a:r>
              <a:rPr lang="en-US" altLang="ja-JP" dirty="0"/>
              <a:t>We finished the final confirmation of the design today</a:t>
            </a:r>
          </a:p>
          <a:p>
            <a:r>
              <a:rPr lang="ja-JP" altLang="en-US"/>
              <a:t>設計の最終確認とは？</a:t>
            </a:r>
            <a:r>
              <a:rPr lang="en-US" altLang="ja-JP" dirty="0"/>
              <a:t>-&gt; </a:t>
            </a:r>
            <a:r>
              <a:rPr lang="ja-JP" altLang="en-US"/>
              <a:t>設計の最終認可</a:t>
            </a:r>
            <a:endParaRPr lang="en-US" altLang="ja-JP" dirty="0"/>
          </a:p>
          <a:p>
            <a:pPr lvl="1"/>
            <a:r>
              <a:rPr lang="en-US" altLang="ja-JP" dirty="0"/>
              <a:t>Confirmation</a:t>
            </a:r>
            <a:r>
              <a:rPr lang="ja-JP" altLang="en-US"/>
              <a:t>でいい？</a:t>
            </a:r>
            <a:endParaRPr lang="en-US" altLang="ja-JP" dirty="0"/>
          </a:p>
          <a:p>
            <a:r>
              <a:rPr lang="en-US" altLang="ja-JP" dirty="0"/>
              <a:t>We finished the final check of the design today</a:t>
            </a:r>
          </a:p>
          <a:p>
            <a:r>
              <a:rPr lang="ja-JP" altLang="en-US"/>
              <a:t>認可という意味を直接表現すると</a:t>
            </a:r>
            <a:endParaRPr lang="en-US" altLang="ja-JP" dirty="0"/>
          </a:p>
          <a:p>
            <a:pPr lvl="1"/>
            <a:r>
              <a:rPr lang="en-US" altLang="ja-JP" dirty="0"/>
              <a:t>We approved the design today</a:t>
            </a:r>
          </a:p>
          <a:p>
            <a:pPr lvl="1"/>
            <a:r>
              <a:rPr lang="en-US" altLang="ja-JP" dirty="0"/>
              <a:t>We verified the design today</a:t>
            </a:r>
          </a:p>
          <a:p>
            <a:pPr lvl="1"/>
            <a:r>
              <a:rPr lang="en-US" altLang="ja-JP" dirty="0"/>
              <a:t>We finalized the design today</a:t>
            </a:r>
          </a:p>
          <a:p>
            <a:pPr lvl="1"/>
            <a:endParaRPr kumimoji="1" lang="ja-JP" altLang="en-US"/>
          </a:p>
        </p:txBody>
      </p:sp>
    </p:spTree>
    <p:extLst>
      <p:ext uri="{BB962C8B-B14F-4D97-AF65-F5344CB8AC3E}">
        <p14:creationId xmlns:p14="http://schemas.microsoft.com/office/powerpoint/2010/main" val="1648284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checkerboard(across)">
                                      <p:cBhvr>
                                        <p:cTn id="7" dur="500"/>
                                        <p:tgtEl>
                                          <p:spTgt spid="3">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blinds(horizontal)">
                                      <p:cBhvr>
                                        <p:cTn id="12" dur="500"/>
                                        <p:tgtEl>
                                          <p:spTgt spid="3">
                                            <p:txEl>
                                              <p:pRg st="7" end="7"/>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Effect transition="in" filter="blinds(horizontal)">
                                      <p:cBhvr>
                                        <p:cTn id="15" dur="500"/>
                                        <p:tgtEl>
                                          <p:spTgt spid="3">
                                            <p:txEl>
                                              <p:pRg st="8" end="8"/>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9" end="9"/>
                                            </p:txEl>
                                          </p:spTgt>
                                        </p:tgtEl>
                                        <p:attrNameLst>
                                          <p:attrName>style.visibility</p:attrName>
                                        </p:attrNameLst>
                                      </p:cBhvr>
                                      <p:to>
                                        <p:strVal val="visible"/>
                                      </p:to>
                                    </p:set>
                                    <p:animEffect transition="in" filter="blinds(horizontal)">
                                      <p:cBhvr>
                                        <p:cTn id="18" dur="500"/>
                                        <p:tgtEl>
                                          <p:spTgt spid="3">
                                            <p:txEl>
                                              <p:pRg st="9" end="9"/>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animEffect transition="in" filter="blinds(horizontal)">
                                      <p:cBhvr>
                                        <p:cTn id="2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D62CBD-BA96-1D4B-881E-02AEDCA2BCC1}"/>
              </a:ext>
            </a:extLst>
          </p:cNvPr>
          <p:cNvSpPr>
            <a:spLocks noGrp="1"/>
          </p:cNvSpPr>
          <p:nvPr>
            <p:ph type="title"/>
          </p:nvPr>
        </p:nvSpPr>
        <p:spPr/>
        <p:txBody>
          <a:bodyPr/>
          <a:lstStyle/>
          <a:p>
            <a:r>
              <a:rPr kumimoji="1" lang="ja-JP" altLang="en-US"/>
              <a:t>まとめ</a:t>
            </a:r>
          </a:p>
        </p:txBody>
      </p:sp>
      <p:sp>
        <p:nvSpPr>
          <p:cNvPr id="3" name="コンテンツ プレースホルダー 2">
            <a:extLst>
              <a:ext uri="{FF2B5EF4-FFF2-40B4-BE49-F238E27FC236}">
                <a16:creationId xmlns:a16="http://schemas.microsoft.com/office/drawing/2014/main" id="{AB427864-2384-BB4F-AD73-FFB448F6B94A}"/>
              </a:ext>
            </a:extLst>
          </p:cNvPr>
          <p:cNvSpPr>
            <a:spLocks noGrp="1"/>
          </p:cNvSpPr>
          <p:nvPr>
            <p:ph idx="1"/>
          </p:nvPr>
        </p:nvSpPr>
        <p:spPr/>
        <p:txBody>
          <a:bodyPr/>
          <a:lstStyle/>
          <a:p>
            <a:r>
              <a:rPr kumimoji="1" lang="ja-JP" altLang="en-US"/>
              <a:t>生成</a:t>
            </a:r>
            <a:r>
              <a:rPr kumimoji="1" lang="en-US" altLang="ja-JP" dirty="0"/>
              <a:t>AI</a:t>
            </a:r>
            <a:r>
              <a:rPr kumimoji="1" lang="ja-JP" altLang="en-US"/>
              <a:t>ツールをどんどん使おう。まず英語論文を書いてみよう</a:t>
            </a:r>
            <a:endParaRPr kumimoji="1" lang="en-US" altLang="ja-JP" dirty="0"/>
          </a:p>
          <a:p>
            <a:r>
              <a:rPr lang="ja-JP" altLang="en-US"/>
              <a:t>翻訳には、基本的には</a:t>
            </a:r>
            <a:r>
              <a:rPr kumimoji="1" lang="ja-JP" altLang="en-US"/>
              <a:t>母国語の能力が重要</a:t>
            </a:r>
            <a:endParaRPr kumimoji="1" lang="en-US" altLang="ja-JP" dirty="0"/>
          </a:p>
          <a:p>
            <a:pPr lvl="1"/>
            <a:r>
              <a:rPr lang="ja-JP" altLang="en-US"/>
              <a:t>必要最小限の日本語にしてから、英語にする⇒技術英語</a:t>
            </a:r>
            <a:endParaRPr lang="en-US" altLang="ja-JP" dirty="0"/>
          </a:p>
          <a:p>
            <a:r>
              <a:rPr lang="ja-JP" altLang="en-US"/>
              <a:t>次回までの宿題</a:t>
            </a:r>
            <a:endParaRPr lang="en-US" altLang="ja-JP" dirty="0"/>
          </a:p>
          <a:p>
            <a:pPr lvl="1"/>
            <a:r>
              <a:rPr lang="ja-JP" altLang="en-US"/>
              <a:t>英訳したい日本語論文を探す</a:t>
            </a:r>
            <a:endParaRPr lang="en-US" altLang="ja-JP" dirty="0"/>
          </a:p>
          <a:p>
            <a:pPr lvl="2"/>
            <a:r>
              <a:rPr lang="ja-JP" altLang="en-US"/>
              <a:t>卒研で書いた卒論の要旨でもいいです</a:t>
            </a:r>
            <a:endParaRPr lang="en-US" altLang="ja-JP" dirty="0"/>
          </a:p>
        </p:txBody>
      </p:sp>
    </p:spTree>
    <p:extLst>
      <p:ext uri="{BB962C8B-B14F-4D97-AF65-F5344CB8AC3E}">
        <p14:creationId xmlns:p14="http://schemas.microsoft.com/office/powerpoint/2010/main" val="211428592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10113</TotalTime>
  <Words>1268</Words>
  <Application>Microsoft Macintosh PowerPoint</Application>
  <PresentationFormat>ワイド画面</PresentationFormat>
  <Paragraphs>152</Paragraphs>
  <Slides>22</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22</vt:i4>
      </vt:variant>
    </vt:vector>
  </HeadingPairs>
  <TitlesOfParts>
    <vt:vector size="26" baseType="lpstr">
      <vt:lpstr>游ゴシック</vt:lpstr>
      <vt:lpstr>游ゴシック Light</vt:lpstr>
      <vt:lpstr>Arial</vt:lpstr>
      <vt:lpstr>Office テーマ</vt:lpstr>
      <vt:lpstr>情報論-1 2025/4/9 水曜2限(10:40-)</vt:lpstr>
      <vt:lpstr>この授業でやりたいこと: 生成AIツールを色々使ってみる</vt:lpstr>
      <vt:lpstr>使うツール</vt:lpstr>
      <vt:lpstr>教科書(買わなくてもいいようにします)</vt:lpstr>
      <vt:lpstr>授業の予定(最初の数回)</vt:lpstr>
      <vt:lpstr>早速問題　以下を英訳せよ(ChatGPT, Claudeなどはとりあえず使わないこと)</vt:lpstr>
      <vt:lpstr>早速問題　以下を英訳せよ(ChatGPT, Claudeなどはとりあえず使わないこと)</vt:lpstr>
      <vt:lpstr>生成AIツールを使って英語論文を書こう</vt:lpstr>
      <vt:lpstr>技術英語ライティングの基本</vt:lpstr>
      <vt:lpstr>すっきり最小主義</vt:lpstr>
      <vt:lpstr>解答例</vt:lpstr>
      <vt:lpstr>すっきり最小主義 重複表現を探せ</vt:lpstr>
      <vt:lpstr>和文の段階で必要なところだけにする</vt:lpstr>
      <vt:lpstr>解答例</vt:lpstr>
      <vt:lpstr>すっきり最小主義 原文の矛盾を見逃すな</vt:lpstr>
      <vt:lpstr>矛盾を見逃さず必要なところだけにする</vt:lpstr>
      <vt:lpstr>すっきり最小主義 空っぽ表現を捨てる</vt:lpstr>
      <vt:lpstr>解答例</vt:lpstr>
      <vt:lpstr>言い切りたくないとき、調整する</vt:lpstr>
      <vt:lpstr>すっきり最小主義 無駄に丁寧、かえって失礼</vt:lpstr>
      <vt:lpstr>解答例</vt:lpstr>
      <vt:lpstr>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マツノユタカ</dc:creator>
  <cp:lastModifiedBy>マツノユタカ</cp:lastModifiedBy>
  <cp:revision>162</cp:revision>
  <cp:lastPrinted>2021-09-15T13:16:56Z</cp:lastPrinted>
  <dcterms:created xsi:type="dcterms:W3CDTF">2020-09-21T06:31:47Z</dcterms:created>
  <dcterms:modified xsi:type="dcterms:W3CDTF">2025-04-08T00:11:21Z</dcterms:modified>
</cp:coreProperties>
</file>